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</p:sldMasterIdLst>
  <p:notesMasterIdLst>
    <p:notesMasterId r:id="rId28"/>
  </p:notesMasterIdLst>
  <p:sldIdLst>
    <p:sldId id="256" r:id="rId2"/>
    <p:sldId id="257" r:id="rId3"/>
    <p:sldId id="309" r:id="rId4"/>
    <p:sldId id="310" r:id="rId5"/>
    <p:sldId id="311" r:id="rId6"/>
    <p:sldId id="308" r:id="rId7"/>
    <p:sldId id="312" r:id="rId8"/>
    <p:sldId id="313" r:id="rId9"/>
    <p:sldId id="331" r:id="rId10"/>
    <p:sldId id="314" r:id="rId11"/>
    <p:sldId id="316" r:id="rId12"/>
    <p:sldId id="317" r:id="rId13"/>
    <p:sldId id="321" r:id="rId14"/>
    <p:sldId id="335" r:id="rId15"/>
    <p:sldId id="336" r:id="rId16"/>
    <p:sldId id="337" r:id="rId17"/>
    <p:sldId id="338" r:id="rId18"/>
    <p:sldId id="324" r:id="rId19"/>
    <p:sldId id="326" r:id="rId20"/>
    <p:sldId id="322" r:id="rId21"/>
    <p:sldId id="339" r:id="rId22"/>
    <p:sldId id="328" r:id="rId23"/>
    <p:sldId id="334" r:id="rId24"/>
    <p:sldId id="333" r:id="rId25"/>
    <p:sldId id="329" r:id="rId26"/>
    <p:sldId id="33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2808"/>
  </p:normalViewPr>
  <p:slideViewPr>
    <p:cSldViewPr snapToGrid="0">
      <p:cViewPr varScale="1">
        <p:scale>
          <a:sx n="113" d="100"/>
          <a:sy n="113" d="100"/>
        </p:scale>
        <p:origin x="1624" y="176"/>
      </p:cViewPr>
      <p:guideLst/>
    </p:cSldViewPr>
  </p:slideViewPr>
  <p:outlineViewPr>
    <p:cViewPr>
      <p:scale>
        <a:sx n="33" d="100"/>
        <a:sy n="33" d="100"/>
      </p:scale>
      <p:origin x="0" y="-4839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763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BAF80-26E1-9D42-B076-B7A0D2878701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FC107-1A6D-6340-BC03-340C784C88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2422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5516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9393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149E-F9A3-BFE4-FEFB-A9532B49D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0125C2E-AFE6-7CE8-5349-8C3C603EC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92E627F-22C0-83EA-F509-683C5D7E0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4BBEA8-119E-F088-8479-98368FCB4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5571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17717-AADC-7D28-36B1-BDC3F194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730C030-6697-E83D-610A-EFA4A993F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E4737CA-1F2B-781C-3640-3E29980F6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19402C-1CDC-4C07-C1CC-D7E037737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429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314A2-7813-7EDA-7D57-89F2B598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7BA3DCF-48DA-842A-027B-10B93DA51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7B947AB-7BC9-3A40-0140-775557935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6A20B3-6166-857B-BDEA-D73FA27AF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870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03520-28BD-D0D3-69B5-74C5DA7D4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7EEA6A6-B49F-8CB5-2C82-B1FA0102D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AFBF0EB-0AE6-DE10-A4E2-98345F394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A55CA4-950B-6C29-477C-A2C4A3DBD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8889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B2B5-EAD8-D0AA-AE45-9F9C4E85F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CB8203F-AAC1-BDC6-0F83-23F14D2FE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9B86C82-4A36-8781-D5B2-D0B896CB6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B7776E-EDA4-7132-3804-59CEEA0DE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7696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CFF0F-94B5-6421-6BA7-6851AE291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DDD1ABE-1873-90F2-ADCA-1EDDECFCE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678066E-AE91-DBA3-18A4-2A52681E8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8075ED-9549-EAC7-A72D-7E1D56541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291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B7D4-F812-FF3B-88D1-02D952BE5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6A134D7-92F3-C65C-2678-90EED78A9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7EA60DB-ECEF-DFDE-5163-290E18DA5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07F520-2817-DC0F-2457-80BD8D288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045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64377-5579-F052-2619-C0D692C61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8C69F96-A3D8-8CEB-3C4A-6BBD7F698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D68CC56-DB57-E686-81A1-6D2DE04F8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4F9895-C6D1-30B7-9425-39DF473B5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7100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1FF7F-E26C-DFAA-3C81-C35E5D6F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9B7B598-BAE6-AB38-AE44-15A57EEEE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30D3465-DD0F-AB98-3417-61B1771C5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7AD4F7-FA49-5012-658B-A0B1571BA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33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6BF7B-D46C-8264-F40B-1AAB1C46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F43AC92-BF90-55E5-451B-39BC059AA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007DDA3-1A71-4CB1-DCF2-BEE3ED2A7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A3FCDD-7090-834B-13DC-F500C11CC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921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29785-FC4E-DEC2-9C4F-2CE2880C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D29ADCF-D511-4216-AE39-5D5B71F53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2F89C2C-9248-32D6-0E7B-4DDF550B3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AD08AC-06ED-721F-76CD-A4AC0B5E5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875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B0EA4-130A-1F99-414B-E81F45E5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B4461E7-1BC1-2D62-2F85-3CE4F3448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14A749D-031F-E9B2-9120-CD50F66D0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D1AF60-3B62-7799-1A3E-D91C2CD74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06443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6488A-84BC-9619-8023-8F1F9627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D1625AE-8A8F-0872-4B48-960CE2AB3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8F19632-D27B-6CF8-B65A-D85D2341E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3C5960-1A60-8991-2763-3F02AC3C9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8965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AD2CA-900F-CC39-916B-5FDCC827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F409273-6301-B13F-E27D-06B36EFB9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B3AFCC6-C31E-1701-6952-FAD937289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CF40AD-5B0B-EA69-F87C-DA583F22D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50404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52A8B-295B-67A0-EA09-A7526A4B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EE825C7-3579-4CD0-E859-AFA0D5305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142D2E7-7893-7EFE-7888-C3FABB205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D85433-EEBC-312F-E410-6F6B6BCD8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6668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B5A36-92BF-28E1-6577-6C816600C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FEC2168-34E1-9ACC-6B37-C54EA6930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8A1562B-1DEA-C30C-8FC2-051580977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F404D9-C5EF-D10C-5F92-E49D9B660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64161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CD30-4072-9349-46D1-9088AC4C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141856D-7629-A5CA-DFD1-6C3AA63BB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F63D1F9-852B-5318-D338-0AA0A42A4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0170E1-488A-D55A-B21F-3011323ED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5713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9DA55-76C7-5B28-1943-405DF1E8B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C31326D-B96E-BFCC-BFA0-7C3E34BAE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A230559-8BEE-E71F-E5C6-7426B88D7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8BEEAE-8747-5C40-1BF4-995F9975B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9070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73131-E4D6-CBD6-F77F-305FE735D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9B6890B-6773-B43E-6640-3E2E26972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2D548B2-8F32-E0E1-1DB8-7F09B7553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7D106C-E0DB-4755-393E-6417DD8EF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31329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A7D1C-7A9E-D951-A541-28F6A1B62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DEA7E73-9502-55DC-91A1-53147B740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A37F215-42EA-A421-E411-EE7FDC305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527990-09B8-7B19-B267-5BB96BE9B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02263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DE328-1EF0-716E-1294-6FA24C549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50C7C4A-6226-2363-436E-12A5A72E8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9E5A20D-F445-8894-00C0-6F26A7484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519A30D-C985-1D4D-4EB2-4CE1DBC32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3355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A5E4F-8D60-FFCA-855E-BB098CF43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95812F8-F977-DA9D-586F-75CAC2CE1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E200632-AA91-5215-BBDA-14135A678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D27C60-15C0-ED18-CABE-C7FCDAC50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4449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D775B-4FF7-3FA2-FDE8-4A57C3036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4A3BB70-90F6-4362-0913-42D46F6B8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A705253-BEF8-F794-13D7-85C2937A0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37B852-748D-D8B9-B343-8EF5A5F17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0455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34C84-8EBA-17E1-51D6-93A2B1E2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A68E015-F1B7-6918-ED18-E0FCA559E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FDFC97D-D64E-79FF-06C0-FDCCA6F9D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5135C0-B810-BF61-DC5C-5497CBDA9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FC107-1A6D-6340-BC03-340C784C88C2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7941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tx2">
                    <a:lumMod val="75000"/>
                    <a:lumOff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751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32" y="207596"/>
            <a:ext cx="11011968" cy="73514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 b="1">
                <a:solidFill>
                  <a:schemeClr val="tx2">
                    <a:lumMod val="75000"/>
                    <a:lumOff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652" y="1110953"/>
            <a:ext cx="10593148" cy="5066010"/>
          </a:xfrm>
          <a:prstGeom prst="rect">
            <a:avLst/>
          </a:prstGeom>
        </p:spPr>
        <p:txBody>
          <a:bodyPr/>
          <a:lstStyle>
            <a:lvl1pPr marL="514350" indent="-514350">
              <a:lnSpc>
                <a:spcPct val="100000"/>
              </a:lnSpc>
              <a:buFont typeface="+mj-lt"/>
              <a:buAutoNum type="arabicPeriod"/>
              <a:defRPr b="1"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800100" indent="-34290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n"/>
              <a:tabLst/>
              <a:defRPr sz="2000"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143000" indent="-342900">
              <a:buFont typeface="Wingdings" pitchFamily="2" charset="2"/>
              <a:buChar char="Ø"/>
              <a:tabLst/>
              <a:defRPr>
                <a:latin typeface="Meiryo" panose="020B0604030504040204" pitchFamily="34" charset="-128"/>
                <a:ea typeface="Meiryo" panose="020B0604030504040204" pitchFamily="34" charset="-128"/>
              </a:defRPr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  <a:endParaRPr lang="en-US" altLang="ja-JP" dirty="0"/>
          </a:p>
          <a:p>
            <a:pPr lvl="2"/>
            <a:r>
              <a:rPr lang="en-US" dirty="0" err="1"/>
              <a:t>第三レベル</a:t>
            </a:r>
            <a:endParaRPr 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9AE0A1-2D38-3B56-4944-1F6193A0ABD8}"/>
              </a:ext>
            </a:extLst>
          </p:cNvPr>
          <p:cNvSpPr txBox="1"/>
          <p:nvPr userDrawn="1"/>
        </p:nvSpPr>
        <p:spPr>
          <a:xfrm>
            <a:off x="10404545" y="207596"/>
            <a:ext cx="144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553FBDF0-E85B-1043-9E1C-2242D63B2B9C}" type="slidenum">
              <a:rPr kumimoji="1" lang="ja-JP" altLang="en-US" sz="2000" smtClean="0"/>
              <a:pPr algn="r"/>
              <a:t>‹#›</a:t>
            </a:fld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739837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91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-aid.com/ml/vae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DC8F0D-7726-865C-EDB0-C493E2BB2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B4</a:t>
            </a:r>
            <a:r>
              <a:rPr lang="ja-JP" altLang="en-US"/>
              <a:t>輪講</a:t>
            </a:r>
            <a:r>
              <a:rPr lang="en-US" altLang="ja-JP" dirty="0"/>
              <a:t> #9</a:t>
            </a:r>
            <a:br>
              <a:rPr lang="en-US" altLang="ja-JP" dirty="0"/>
            </a:br>
            <a:br>
              <a:rPr lang="en-US" altLang="ja-JP" sz="3200" dirty="0"/>
            </a:br>
            <a:r>
              <a:rPr lang="ja-JP" altLang="en-US" sz="3200"/>
              <a:t>変分推論に基づく生成モデル</a:t>
            </a:r>
            <a:br>
              <a:rPr lang="ja-JP" altLang="en-US" sz="3200"/>
            </a:br>
            <a:r>
              <a:rPr lang="en-US" altLang="ja-JP" sz="3200" dirty="0"/>
              <a:t>VAE</a:t>
            </a:r>
            <a:r>
              <a:rPr lang="ja-JP" altLang="en-US" sz="3200"/>
              <a:t>（変分オートエンコーダ）</a:t>
            </a:r>
            <a:endParaRPr kumimoji="1" lang="ja-JP" altLang="en-US" sz="320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434F3EB-5A90-D1C2-1655-2800DEC481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ja-JP" dirty="0"/>
          </a:p>
          <a:p>
            <a:r>
              <a:rPr lang="ja-JP" altLang="en-US"/>
              <a:t>戸田研究室</a:t>
            </a:r>
            <a:r>
              <a:rPr lang="en-US" altLang="ja-JP" dirty="0"/>
              <a:t>M1</a:t>
            </a:r>
            <a:r>
              <a:rPr kumimoji="1" lang="en-US" altLang="ja-JP" dirty="0"/>
              <a:t> </a:t>
            </a:r>
            <a:r>
              <a:rPr kumimoji="1" lang="ja-JP" altLang="en-US"/>
              <a:t>二神匠</a:t>
            </a:r>
          </a:p>
        </p:txBody>
      </p:sp>
    </p:spTree>
    <p:extLst>
      <p:ext uri="{BB962C8B-B14F-4D97-AF65-F5344CB8AC3E}">
        <p14:creationId xmlns:p14="http://schemas.microsoft.com/office/powerpoint/2010/main" val="189971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91"/>
    </mc:Choice>
    <mc:Fallback xmlns="">
      <p:transition spd="slow" advTm="1719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ECDA70-9908-DF8D-A220-6AAAF7A0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DB6DDA-FEF1-094F-2B8A-16FDCA7C1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VAE </a:t>
            </a:r>
            <a:r>
              <a:rPr kumimoji="1" lang="ja-JP" altLang="en-US"/>
              <a:t>の目的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lang="ja-JP" altLang="en-US"/>
              <a:t>変分推論の導入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en" altLang="ja-JP" dirty="0"/>
              <a:t>ELBO </a:t>
            </a:r>
            <a:r>
              <a:rPr lang="ja-JP" altLang="en-US"/>
              <a:t>の導出と損失関数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en-US" altLang="ja-JP" dirty="0"/>
              <a:t>VAE </a:t>
            </a:r>
            <a:r>
              <a:rPr lang="ja-JP" altLang="en-US"/>
              <a:t>の実装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lang="en-US" altLang="ja-JP" dirty="0"/>
              <a:t>VAE </a:t>
            </a:r>
            <a:r>
              <a:rPr lang="ja-JP" altLang="en-US"/>
              <a:t>の応用例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kumimoji="1" lang="ja-JP" altLang="en-US"/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363349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44DE7-C41A-54C4-E143-054A6C6D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73C251-5AF0-9EB7-3344-2E05B04C4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57C704-8D76-8503-CD3B-2A582C854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VAE </a:t>
            </a:r>
            <a:r>
              <a:rPr kumimoji="1" lang="ja-JP" altLang="en-US"/>
              <a:t>の目的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変分推論の導入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ja-JP" dirty="0">
                <a:solidFill>
                  <a:schemeClr val="bg1">
                    <a:lumMod val="75000"/>
                  </a:schemeClr>
                </a:solidFill>
              </a:rPr>
              <a:t>ELBO </a:t>
            </a: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の導出と損失関数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の実装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の応用例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108394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72378-C073-1E10-AB10-4B56A26A9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7CA368-CEF0-3D21-CAE5-280DAC5B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VAE </a:t>
            </a:r>
            <a:r>
              <a:rPr lang="ja-JP" altLang="en-US"/>
              <a:t>の目的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8A1A631-B1B5-056D-B129-959F874EC4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ja-JP" altLang="en-US"/>
                  <a:t>訓練データに含まれない未知のデータの生成</a:t>
                </a:r>
                <a:endParaRPr lang="ja-JP" altLang="en-US" sz="2000" b="0"/>
              </a:p>
              <a:p>
                <a:pPr marL="628650" lvl="1"/>
                <a:r>
                  <a:rPr lang="ja-JP" altLang="en-US"/>
                  <a:t>訓練データ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ja-JP" i="1" dirty="0"/>
                  <a:t> </a:t>
                </a:r>
                <a:r>
                  <a:rPr lang="ja-JP" altLang="en-US"/>
                  <a:t>が与えられたとき、</a:t>
                </a:r>
                <a:br>
                  <a:rPr lang="en-US" altLang="ja-JP" dirty="0"/>
                </a:br>
                <a:r>
                  <a:rPr lang="ja-JP" altLang="en-US"/>
                  <a:t>それらが生成される確率分布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を近</a:t>
                </a:r>
                <a:r>
                  <a:rPr lang="ja-JP" altLang="en-US"/>
                  <a:t>似するモデル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を構築</a:t>
                </a:r>
                <a:endParaRPr lang="en-US" altLang="ja-JP" dirty="0"/>
              </a:p>
              <a:p>
                <a:pPr marL="628650" lvl="1"/>
                <a:r>
                  <a:rPr lang="ja-JP" altLang="en-US"/>
                  <a:t>モデルから未知のデータ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を生成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8A1A631-B1B5-056D-B129-959F874EC4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7" t="-1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692C47B-03C4-BCB5-13C0-D1E1580848F6}"/>
                  </a:ext>
                </a:extLst>
              </p:cNvPr>
              <p:cNvSpPr txBox="1"/>
              <p:nvPr/>
            </p:nvSpPr>
            <p:spPr>
              <a:xfrm>
                <a:off x="1185332" y="4267201"/>
                <a:ext cx="2861735" cy="52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ja-JP" altLang="en-US" sz="1400">
                    <a:latin typeface="Meiryo" panose="020B0604030504040204" pitchFamily="34" charset="-128"/>
                    <a:ea typeface="Meiryo" panose="020B0604030504040204" pitchFamily="34" charset="-128"/>
                  </a:rPr>
                  <a:t>訓練データ</a:t>
                </a:r>
                <a:r>
                  <a:rPr lang="en-US" altLang="ja-JP" sz="14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kumimoji="1" lang="en-US" altLang="ja-JP" sz="1400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  <a:p>
                <a:pPr algn="ctr"/>
                <a:r>
                  <a:rPr kumimoji="1" lang="en-US" altLang="ja-JP" sz="14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kumimoji="1" lang="en-US" altLang="ja-JP" sz="14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:r>
                  <a:rPr kumimoji="1" lang="ja-JP" altLang="en-US" sz="1400">
                    <a:latin typeface="Meiryo" panose="020B0604030504040204" pitchFamily="34" charset="-128"/>
                    <a:ea typeface="Meiryo" panose="020B0604030504040204" pitchFamily="34" charset="-128"/>
                  </a:rPr>
                  <a:t>から与えられたデータ</a:t>
                </a:r>
                <a:r>
                  <a:rPr kumimoji="1" lang="en-US" altLang="ja-JP" sz="14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) </a:t>
                </a:r>
                <a:endParaRPr kumimoji="1" lang="ja-JP" altLang="en-US" sz="14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692C47B-03C4-BCB5-13C0-D1E158084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332" y="4267201"/>
                <a:ext cx="2861735" cy="522000"/>
              </a:xfrm>
              <a:prstGeom prst="rect">
                <a:avLst/>
              </a:prstGeom>
              <a:blipFill>
                <a:blip r:embed="rId4"/>
                <a:stretch>
                  <a:fillRect r="-1754" b="-116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656F606-3140-29D1-7771-C7FADC63145E}"/>
                  </a:ext>
                </a:extLst>
              </p:cNvPr>
              <p:cNvSpPr txBox="1"/>
              <p:nvPr/>
            </p:nvSpPr>
            <p:spPr>
              <a:xfrm>
                <a:off x="5274057" y="4267198"/>
                <a:ext cx="1566335" cy="521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400" b="0"/>
                  <a:t>近似モデル</a:t>
                </a:r>
                <a:r>
                  <a:rPr kumimoji="1" lang="en-US" altLang="ja-JP" sz="1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ja-JP" sz="1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kumimoji="1" lang="ja-JP" altLang="en-US" sz="14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656F606-3140-29D1-7771-C7FADC631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057" y="4267198"/>
                <a:ext cx="1566335" cy="521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F209D25-99C1-A4DF-64A8-6C9D32C7FCF0}"/>
                  </a:ext>
                </a:extLst>
              </p:cNvPr>
              <p:cNvSpPr txBox="1"/>
              <p:nvPr/>
            </p:nvSpPr>
            <p:spPr>
              <a:xfrm>
                <a:off x="8730143" y="4267198"/>
                <a:ext cx="1698872" cy="521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400">
                    <a:latin typeface="Meiryo" panose="020B0604030504040204" pitchFamily="34" charset="-128"/>
                    <a:ea typeface="Meiryo" panose="020B0604030504040204" pitchFamily="34" charset="-128"/>
                  </a:rPr>
                  <a:t>未知のデータ</a:t>
                </a:r>
                <a:r>
                  <a:rPr kumimoji="1" lang="en-US" altLang="ja-JP" sz="14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  <a:ea typeface="Meiryo" panose="020B0604030504040204" pitchFamily="34" charset="-128"/>
                          </a:rPr>
                        </m:ctrlPr>
                      </m:sSubPr>
                      <m:e>
                        <m:r>
                          <a:rPr kumimoji="1" lang="en-US" altLang="ja-JP" sz="1400" b="1" i="1" smtClean="0">
                            <a:latin typeface="Cambria Math" panose="02040503050406030204" pitchFamily="18" charset="0"/>
                            <a:ea typeface="Meiryo" panose="020B0604030504040204" pitchFamily="34" charset="-128"/>
                          </a:rPr>
                          <m:t>𝒙</m:t>
                        </m:r>
                      </m:e>
                      <m:sub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  <a:ea typeface="Meiryo" panose="020B0604030504040204" pitchFamily="34" charset="-128"/>
                          </a:rPr>
                          <m:t>𝑛𝑒𝑤</m:t>
                        </m:r>
                      </m:sub>
                    </m:sSub>
                  </m:oMath>
                </a14:m>
                <a:endParaRPr kumimoji="1" lang="ja-JP" altLang="en-US" sz="14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F209D25-99C1-A4DF-64A8-6C9D32C7F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143" y="4267198"/>
                <a:ext cx="1698872" cy="521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2859F2D-AA3B-01FC-BEBD-DF036627D63C}"/>
              </a:ext>
            </a:extLst>
          </p:cNvPr>
          <p:cNvSpPr txBox="1"/>
          <p:nvPr/>
        </p:nvSpPr>
        <p:spPr>
          <a:xfrm>
            <a:off x="3877394" y="4180648"/>
            <a:ext cx="1566335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学習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434D78A9-20DE-C162-9D2E-65CA92DFDE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4047067" y="4528198"/>
            <a:ext cx="1226990" cy="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6F4F878-CD3B-DBEC-5425-798FFFB812B6}"/>
              </a:ext>
            </a:extLst>
          </p:cNvPr>
          <p:cNvSpPr txBox="1"/>
          <p:nvPr/>
        </p:nvSpPr>
        <p:spPr>
          <a:xfrm>
            <a:off x="6840392" y="4180648"/>
            <a:ext cx="1889751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新たにサンプリング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87D0B89-E152-BB22-3D99-0C8EEF82F48B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840393" y="4528198"/>
            <a:ext cx="1889750" cy="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96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78"/>
    </mc:Choice>
    <mc:Fallback xmlns="">
      <p:transition spd="slow" advTm="3537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A2CA0-578C-EBB6-F663-D33B40AD5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83DEA7-EBE0-D34D-7B2A-F6E1234FB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潜在変数の導入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FE87F4E-D7AF-0542-D476-6B12AB3ADB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ja-JP" altLang="en-US"/>
                  <a:t>生成プロセス</a:t>
                </a:r>
                <a:endParaRPr lang="ja-JP" altLang="en-US" sz="2000" b="0"/>
              </a:p>
              <a:p>
                <a:pPr marL="285750" lvl="1" indent="0">
                  <a:buNone/>
                </a:pPr>
                <a:r>
                  <a:rPr lang="ja-JP" altLang="en-US"/>
                  <a:t>データ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は</a:t>
                </a:r>
                <a:r>
                  <a:rPr lang="ja-JP" altLang="en-US"/>
                  <a:t>潜在変数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から生成</a:t>
                </a:r>
                <a:r>
                  <a:rPr lang="ja-JP" altLang="en-US"/>
                  <a:t>されていると仮定</a:t>
                </a:r>
                <a:endParaRPr lang="en-US" altLang="ja-JP" dirty="0"/>
              </a:p>
              <a:p>
                <a:pPr marL="622300" lvl="1" indent="-336550">
                  <a:buFont typeface="+mj-lt"/>
                  <a:buAutoNum type="arabicPeriod"/>
                </a:pPr>
                <a:r>
                  <a:rPr lang="ja-JP" altLang="en-US"/>
                  <a:t>潜在変数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を事前</a:t>
                </a:r>
                <a:r>
                  <a:rPr lang="ja-JP" altLang="en-US"/>
                  <a:t>分布からサンプリング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marL="622300" lvl="1" indent="-336550">
                  <a:buFont typeface="+mj-lt"/>
                  <a:buAutoNum type="arabicPeriod"/>
                </a:pPr>
                <a:r>
                  <a:rPr lang="ja-JP" altLang="en-US"/>
                  <a:t>データ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ja-JP" altLang="en-US"/>
                  <a:t> を生成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altLang="ja-JP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FE87F4E-D7AF-0542-D476-6B12AB3ADB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7" t="-1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B11FCAF3-0E57-207F-175A-1489F046C401}"/>
                  </a:ext>
                </a:extLst>
              </p:cNvPr>
              <p:cNvSpPr txBox="1"/>
              <p:nvPr/>
            </p:nvSpPr>
            <p:spPr>
              <a:xfrm>
                <a:off x="1367360" y="4301064"/>
                <a:ext cx="1396667" cy="52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400">
                    <a:latin typeface="Meiryo" panose="020B0604030504040204" pitchFamily="34" charset="-128"/>
                    <a:ea typeface="Meiryo" panose="020B0604030504040204" pitchFamily="34" charset="-128"/>
                  </a:rPr>
                  <a:t>事前分布</a:t>
                </a:r>
                <a:r>
                  <a:rPr kumimoji="1" lang="en-US" altLang="ja-JP" sz="14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𝑝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(</m:t>
                    </m:r>
                    <m:r>
                      <a:rPr kumimoji="1" lang="en-US" altLang="ja-JP" sz="1400" b="1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𝒛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)</m:t>
                    </m:r>
                  </m:oMath>
                </a14:m>
                <a:endParaRPr kumimoji="1" lang="en-US" altLang="ja-JP" sz="1400" i="1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B11FCAF3-0E57-207F-175A-1489F046C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360" y="4301064"/>
                <a:ext cx="1396667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E6EEC590-5715-F8BB-F360-935BB9DC463A}"/>
                  </a:ext>
                </a:extLst>
              </p:cNvPr>
              <p:cNvSpPr txBox="1"/>
              <p:nvPr/>
            </p:nvSpPr>
            <p:spPr>
              <a:xfrm>
                <a:off x="4198791" y="4301065"/>
                <a:ext cx="1033610" cy="521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400" b="0"/>
                  <a:t>潜在変数</a:t>
                </a:r>
                <a:r>
                  <a:rPr kumimoji="1" lang="en-US" altLang="ja-JP" sz="1400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14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kumimoji="1" lang="ja-JP" altLang="en-US" sz="1400" b="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E6EEC590-5715-F8BB-F360-935BB9DC4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791" y="4301065"/>
                <a:ext cx="1033610" cy="521999"/>
              </a:xfrm>
              <a:prstGeom prst="rect">
                <a:avLst/>
              </a:prstGeom>
              <a:blipFill>
                <a:blip r:embed="rId5"/>
                <a:stretch>
                  <a:fillRect l="-120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DC160FE-1368-7A80-16F4-C89E21F6917C}"/>
                  </a:ext>
                </a:extLst>
              </p:cNvPr>
              <p:cNvSpPr txBox="1"/>
              <p:nvPr/>
            </p:nvSpPr>
            <p:spPr>
              <a:xfrm>
                <a:off x="5969000" y="4301065"/>
                <a:ext cx="1769533" cy="521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400">
                    <a:latin typeface="Meiryo" panose="020B0604030504040204" pitchFamily="34" charset="-128"/>
                    <a:ea typeface="Meiryo" panose="020B0604030504040204" pitchFamily="34" charset="-128"/>
                  </a:rPr>
                  <a:t>デコーダ</a:t>
                </a:r>
                <a:r>
                  <a:rPr kumimoji="1" lang="en-US" altLang="ja-JP" sz="14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  <a:ea typeface="Meiryo" panose="020B0604030504040204" pitchFamily="34" charset="-128"/>
                          </a:rPr>
                        </m:ctrlPr>
                      </m:sSub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  <a:ea typeface="Meiryo" panose="020B0604030504040204" pitchFamily="34" charset="-128"/>
                          </a:rPr>
                          <m:t>𝑝</m:t>
                        </m:r>
                      </m:e>
                      <m:sub>
                        <m:r>
                          <a:rPr kumimoji="1" lang="en-US" altLang="ja-JP" sz="1400" b="1" i="1" smtClean="0">
                            <a:latin typeface="Cambria Math" panose="02040503050406030204" pitchFamily="18" charset="0"/>
                            <a:ea typeface="Meiryo" panose="020B0604030504040204" pitchFamily="34" charset="-128"/>
                          </a:rPr>
                          <m:t>𝜽</m:t>
                        </m:r>
                      </m:sub>
                    </m:sSub>
                    <m:d>
                      <m:dPr>
                        <m:sepChr m:val="∣"/>
                        <m:ctrlPr>
                          <a:rPr kumimoji="1" lang="en-US" altLang="ja-JP" sz="1400" b="1" i="1" smtClean="0">
                            <a:latin typeface="Cambria Math" panose="02040503050406030204" pitchFamily="18" charset="0"/>
                            <a:ea typeface="Meiryo" panose="020B0604030504040204" pitchFamily="34" charset="-128"/>
                          </a:rPr>
                        </m:ctrlPr>
                      </m:dPr>
                      <m:e>
                        <m:r>
                          <a:rPr kumimoji="1" lang="en-US" altLang="ja-JP" sz="1400" b="1" i="1" smtClean="0">
                            <a:latin typeface="Cambria Math" panose="02040503050406030204" pitchFamily="18" charset="0"/>
                            <a:ea typeface="Meiryo" panose="020B0604030504040204" pitchFamily="34" charset="-128"/>
                          </a:rPr>
                          <m:t>𝒙</m:t>
                        </m:r>
                      </m:e>
                      <m:e>
                        <m:r>
                          <a:rPr kumimoji="1" lang="en-US" altLang="ja-JP" sz="1400" b="1" i="1" smtClean="0">
                            <a:latin typeface="Cambria Math" panose="02040503050406030204" pitchFamily="18" charset="0"/>
                            <a:ea typeface="Meiryo" panose="020B0604030504040204" pitchFamily="34" charset="-128"/>
                          </a:rPr>
                          <m:t>𝒛</m:t>
                        </m:r>
                      </m:e>
                    </m:d>
                  </m:oMath>
                </a14:m>
                <a:endParaRPr kumimoji="1" lang="ja-JP" altLang="en-US" sz="1400" b="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DC160FE-1368-7A80-16F4-C89E21F69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4301065"/>
                <a:ext cx="1769533" cy="521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24466A2-A98A-A1F7-759C-7F0FFBA0498D}"/>
              </a:ext>
            </a:extLst>
          </p:cNvPr>
          <p:cNvSpPr txBox="1"/>
          <p:nvPr/>
        </p:nvSpPr>
        <p:spPr>
          <a:xfrm>
            <a:off x="2698240" y="4214515"/>
            <a:ext cx="1566335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サンプリング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33BA960-F56E-6FAE-A5A3-3D122B73687E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2764027" y="4562064"/>
            <a:ext cx="143476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6453FCF-4BE1-BDF4-11DC-4478C21CBF37}"/>
              </a:ext>
            </a:extLst>
          </p:cNvPr>
          <p:cNvSpPr txBox="1"/>
          <p:nvPr/>
        </p:nvSpPr>
        <p:spPr>
          <a:xfrm>
            <a:off x="4655825" y="4214515"/>
            <a:ext cx="1889751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入力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18B896A1-BB28-C1FD-E9AA-D180FBD5AA2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232401" y="4562065"/>
            <a:ext cx="7365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53A0ACA2-98CD-1B96-889F-69A98B6C244B}"/>
                  </a:ext>
                </a:extLst>
              </p:cNvPr>
              <p:cNvSpPr txBox="1"/>
              <p:nvPr/>
            </p:nvSpPr>
            <p:spPr>
              <a:xfrm>
                <a:off x="9181224" y="4301064"/>
                <a:ext cx="1673885" cy="521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400">
                    <a:latin typeface="Meiryo" panose="020B0604030504040204" pitchFamily="34" charset="-128"/>
                    <a:ea typeface="Meiryo" panose="020B0604030504040204" pitchFamily="34" charset="-128"/>
                  </a:rPr>
                  <a:t>生成データ</a:t>
                </a:r>
                <a:r>
                  <a:rPr kumimoji="1" lang="en-US" altLang="ja-JP" sz="14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1400" b="1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𝒙</m:t>
                    </m:r>
                  </m:oMath>
                </a14:m>
                <a:endParaRPr kumimoji="1" lang="en-US" altLang="ja-JP" sz="1400" b="1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  <a:p>
                <a:pPr algn="ctr"/>
                <a:r>
                  <a:rPr kumimoji="1" lang="en-US" altLang="ja-JP" sz="14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(</a:t>
                </a:r>
                <a:r>
                  <a:rPr kumimoji="1" lang="ja-JP" altLang="en-US" sz="1400">
                    <a:latin typeface="Meiryo" panose="020B0604030504040204" pitchFamily="34" charset="-128"/>
                    <a:ea typeface="Meiryo" panose="020B0604030504040204" pitchFamily="34" charset="-128"/>
                  </a:rPr>
                  <a:t>画像や音声など</a:t>
                </a:r>
                <a:r>
                  <a:rPr kumimoji="1" lang="en-US" altLang="ja-JP" sz="14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)</a:t>
                </a:r>
                <a:endParaRPr kumimoji="1" lang="ja-JP" altLang="en-US" sz="14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53A0ACA2-98CD-1B96-889F-69A98B6C2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224" y="4301064"/>
                <a:ext cx="1673885" cy="521999"/>
              </a:xfrm>
              <a:prstGeom prst="rect">
                <a:avLst/>
              </a:prstGeom>
              <a:blipFill>
                <a:blip r:embed="rId7"/>
                <a:stretch>
                  <a:fillRect t="-2326" b="-930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F39DA4A-FCD9-7D98-C623-1450E2D345F2}"/>
              </a:ext>
            </a:extLst>
          </p:cNvPr>
          <p:cNvSpPr txBox="1"/>
          <p:nvPr/>
        </p:nvSpPr>
        <p:spPr>
          <a:xfrm>
            <a:off x="7530256" y="4214514"/>
            <a:ext cx="1889751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確率的に生成</a:t>
            </a: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FE8D787D-39AC-B201-CDC1-4197A33714B3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7738533" y="4562064"/>
            <a:ext cx="14426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16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78"/>
    </mc:Choice>
    <mc:Fallback xmlns="">
      <p:transition spd="slow" advTm="3537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D10A-D311-ACEF-23D7-32D0CC75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E42F49-E7D7-5C3A-3963-8D01CB91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8559B4-66D0-F56F-0264-1838C4DA5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の目的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/>
              <a:t>変分推論の導入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en" altLang="ja-JP" dirty="0">
                <a:solidFill>
                  <a:schemeClr val="bg1">
                    <a:lumMod val="75000"/>
                  </a:schemeClr>
                </a:solidFill>
              </a:rPr>
              <a:t>ELBO </a:t>
            </a: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の導出と損失関数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の実装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の応用例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213268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949F0-75E9-AAC5-6B49-188E10E74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4ED5BE-63BC-F68F-38A4-C6B78C1D6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計算上の課題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E4811D97-3C2F-1B01-5DAF-FDF1DC5F96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ja-JP" altLang="en-US"/>
                  <a:t>周辺尤度最大化</a:t>
                </a:r>
                <a:endParaRPr lang="ja-JP" altLang="en-US" sz="2000" b="0"/>
              </a:p>
              <a:p>
                <a:pPr marL="285750" lvl="1" indent="0">
                  <a:buNone/>
                </a:pPr>
                <a:r>
                  <a:rPr lang="ja-JP" altLang="en-US"/>
                  <a:t>パラメータ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を最適化するため、対数周辺尤度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を最大化</a:t>
                </a:r>
                <a:endParaRPr lang="en-US" altLang="ja-JP" dirty="0"/>
              </a:p>
              <a:p>
                <a:pPr marL="2857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 b="0" i="1" smtClean="0">
                          <a:latin typeface="Cambria Math" panose="02040503050406030204" pitchFamily="18" charset="0"/>
                        </a:rPr>
                        <m:t>log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r>
                                <a:rPr lang="en-US" altLang="ja-JP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nary>
                    </m:oMath>
                  </m:oMathPara>
                </a14:m>
                <a:endParaRPr lang="en-US" altLang="ja-JP" dirty="0"/>
              </a:p>
              <a:p>
                <a:pPr marL="628650" lvl="1"/>
                <a:r>
                  <a:rPr lang="ja-JP" altLang="en-US"/>
                  <a:t>数値積分が難しい</a:t>
                </a:r>
                <a:endParaRPr lang="en-US" altLang="ja-JP" dirty="0"/>
              </a:p>
              <a:p>
                <a:pPr marL="971550" lvl="2">
                  <a:lnSpc>
                    <a:spcPct val="150000"/>
                  </a:lnSpc>
                </a:pPr>
                <a:r>
                  <a:rPr lang="ja-JP" altLang="en-US"/>
                  <a:t>計算時間が長い</a:t>
                </a:r>
                <a:endParaRPr lang="en-US" altLang="ja-JP" dirty="0"/>
              </a:p>
              <a:p>
                <a:pPr marL="971550" lvl="2">
                  <a:lnSpc>
                    <a:spcPct val="150000"/>
                  </a:lnSpc>
                </a:pPr>
                <a:r>
                  <a:rPr lang="ja-JP" altLang="en-US"/>
                  <a:t>誤差が大きい</a:t>
                </a:r>
                <a:endParaRPr lang="en-US" altLang="ja-JP" dirty="0"/>
              </a:p>
              <a:p>
                <a:pPr marL="628650" lvl="1"/>
                <a:r>
                  <a:rPr lang="ja-JP" altLang="en-US"/>
                  <a:t>解析的に解く方法では表現力に限界がある</a:t>
                </a:r>
                <a:endParaRPr lang="en-US" altLang="ja-JP" dirty="0"/>
              </a:p>
              <a:p>
                <a:pPr marL="285750" lvl="1" indent="0">
                  <a:buNone/>
                </a:pPr>
                <a:r>
                  <a:rPr lang="ja-JP" altLang="en-US"/>
                  <a:t>→</a:t>
                </a:r>
                <a:r>
                  <a:rPr lang="en-US" altLang="ja-JP" dirty="0"/>
                  <a:t> </a:t>
                </a:r>
                <a:r>
                  <a:rPr lang="ja-JP" altLang="en-US"/>
                  <a:t>解析的には解くことができないが、表現力のある</a:t>
                </a:r>
                <a:r>
                  <a:rPr lang="en-US" altLang="ja-JP" dirty="0"/>
                  <a:t> DNN </a:t>
                </a:r>
                <a:r>
                  <a:rPr lang="ja-JP" altLang="en-US"/>
                  <a:t>を使用</a:t>
                </a:r>
                <a:br>
                  <a:rPr lang="en-US" altLang="ja-JP" dirty="0"/>
                </a:br>
                <a:r>
                  <a:rPr lang="en-US" altLang="ja-JP" dirty="0"/>
                  <a:t>    </a:t>
                </a:r>
                <a:r>
                  <a:rPr lang="ja-JP" altLang="en-US"/>
                  <a:t>積分ではなく、事後分布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を用いてパラメータ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を最適化</a:t>
                </a:r>
                <a:endParaRPr lang="en-US" altLang="ja-JP" dirty="0"/>
              </a:p>
              <a:p>
                <a:pPr lvl="2"/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E4811D97-3C2F-1B01-5DAF-FDF1DC5F96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7" t="-1250" b="-1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52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78"/>
    </mc:Choice>
    <mc:Fallback xmlns="">
      <p:transition spd="slow" advTm="3537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6604B-14F3-C068-8C99-28F7FFC4B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7EC748-EE87-05AB-E78D-C9523D41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事後分布の推定と変分推論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D5D7353-BD81-3093-965B-4CE98A1FF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ja-JP" altLang="en-US"/>
                  <a:t>事後分布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ja-JP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ja-JP" altLang="en-US" sz="2000" b="0"/>
              </a:p>
              <a:p>
                <a:pPr marL="28575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m:rPr>
                        <m:aln/>
                      </m:rP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e>
                            <m:r>
                              <a:rPr lang="en-US" altLang="ja-JP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ja-JP" dirty="0"/>
                  <a:t>  (</a:t>
                </a:r>
                <a:r>
                  <a:rPr lang="ja-JP" altLang="en-US"/>
                  <a:t>ベイズの定理</a:t>
                </a:r>
                <a:r>
                  <a:rPr lang="en-US" altLang="ja-JP" dirty="0"/>
                  <a:t>)</a:t>
                </a:r>
              </a:p>
              <a:p>
                <a:pPr marL="28575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が分母にあるため、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も計算困難</a:t>
                </a:r>
                <a:br>
                  <a:rPr lang="en-US" altLang="ja-JP" dirty="0"/>
                </a:br>
                <a:r>
                  <a:rPr lang="ja-JP" altLang="en-US"/>
                  <a:t>→</a:t>
                </a:r>
                <a:r>
                  <a:rPr lang="en-US" altLang="ja-JP" dirty="0"/>
                  <a:t> </a:t>
                </a:r>
                <a:r>
                  <a:rPr lang="ja-JP" altLang="en-US"/>
                  <a:t>別の計算可能な分布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で</a:t>
                </a:r>
                <a:r>
                  <a:rPr lang="ja-JP" altLang="en-US"/>
                  <a:t>近似</a:t>
                </a:r>
                <a:r>
                  <a:rPr lang="en-US" altLang="ja-JP" dirty="0"/>
                  <a:t> (</a:t>
                </a:r>
                <a:r>
                  <a:rPr lang="ja-JP" altLang="en-US" b="1"/>
                  <a:t>変分推論</a:t>
                </a:r>
                <a:r>
                  <a:rPr lang="en-US" altLang="ja-JP" dirty="0"/>
                  <a:t>)</a:t>
                </a:r>
              </a:p>
              <a:p>
                <a:pPr marL="628650" lvl="1"/>
                <a:r>
                  <a:rPr lang="ja-JP" altLang="en-US"/>
                  <a:t>近似事後分布</a:t>
                </a:r>
                <a:r>
                  <a:rPr lang="en-US" altLang="ja-JP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も</a:t>
                </a:r>
                <a:r>
                  <a:rPr lang="en-US" altLang="ja-JP" dirty="0"/>
                  <a:t> DNN </a:t>
                </a:r>
                <a:r>
                  <a:rPr lang="ja-JP" altLang="en-US"/>
                  <a:t>でモデル化</a:t>
                </a:r>
                <a:endParaRPr lang="en-US" altLang="ja-JP" dirty="0"/>
              </a:p>
              <a:p>
                <a:pPr marL="628650"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𝝓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i="1" dirty="0"/>
                  <a:t> </a:t>
                </a:r>
                <a:r>
                  <a:rPr lang="ja-JP" altLang="en-US" i="1"/>
                  <a:t>を用いて</a:t>
                </a:r>
                <a:r>
                  <a:rPr lang="en-US" altLang="ja-JP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i="1" dirty="0"/>
                  <a:t> </a:t>
                </a:r>
                <a:r>
                  <a:rPr lang="ja-JP" altLang="en-US" i="1"/>
                  <a:t>を最大化</a:t>
                </a:r>
                <a:endParaRPr lang="en-US" altLang="ja-JP" i="1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D5D7353-BD81-3093-965B-4CE98A1FF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7" t="-1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08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78"/>
    </mc:Choice>
    <mc:Fallback xmlns="">
      <p:transition spd="slow" advTm="3537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6211-E03C-5F28-0891-2F51884BD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A5FBA3-B633-6AE6-4504-8CDB2F844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8122D6-60CC-D02F-D77A-C7CB06E20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の目的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変分推論の導入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ja-JP" dirty="0"/>
              <a:t>ELBO </a:t>
            </a:r>
            <a:r>
              <a:rPr lang="ja-JP" altLang="en-US"/>
              <a:t>の導出と損失関数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の実装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の応用例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75398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258BD-5DB7-7A01-C2AA-07CD72E20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A4875C-ECC0-3849-B252-60AD342A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対数周辺尤度の式変形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659C167-2CA3-C7DA-3743-806C1370EB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ja-JP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sz="2000" i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m:rPr>
                          <m:aln/>
                        </m:rPr>
                        <a:rPr lang="en-US" altLang="ja-JP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sz="2000" i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nary>
                        <m:naryPr>
                          <m:subHide m:val="on"/>
                          <m:supHide m:val="on"/>
                          <m:ctrlPr>
                            <a:rPr lang="en-US" altLang="ja-JP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nary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∵</m:t>
                          </m:r>
                          <m:nary>
                            <m:naryPr>
                              <m:subHide m:val="on"/>
                              <m:supHide m:val="on"/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ja-JP" sz="20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sepChr m:val="∣"/>
                                  <m:ctrlP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e>
                                  <m:r>
                                    <a:rPr lang="en-US" altLang="ja-JP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nary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ja-JP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000" b="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nary>
                      <m:r>
                        <a:rPr lang="en-US" altLang="ja-JP" sz="2000" b="1" i="1" smtClean="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en-US" altLang="ja-JP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1" i="1" smtClean="0">
                              <a:latin typeface="Cambria Math" panose="02040503050406030204" pitchFamily="18" charset="0"/>
                            </a:rPr>
                            <m:t>∵</m:t>
                          </m:r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sepChr m:val="∣"/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e>
                                  <m:r>
                                    <a:rPr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000" b="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ja-JP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r>
                                            <a:rPr lang="en-US" altLang="ja-JP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ja-JP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𝝓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sepChr m:val="∣"/>
                                          <m:ctrlP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ja-JP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e>
                                          <m:r>
                                            <a:rPr lang="en-US" altLang="ja-JP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d>
                                    </m:den>
                                  </m:f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f>
                                    <m:f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ja-JP" sz="2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𝝓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sepChr m:val="∣"/>
                                          <m:ctrlPr>
                                            <a:rPr lang="en-US" altLang="ja-JP" sz="2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ja-JP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e>
                                          <m:r>
                                            <a:rPr lang="en-US" altLang="ja-JP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ja-JP" sz="2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sz="2000" b="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2000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sepChr m:val="∣"/>
                                          <m:ctrlPr>
                                            <a:rPr lang="en-US" altLang="ja-JP" sz="2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ja-JP" sz="2000" b="1" i="1">
                                              <a:latin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e>
                                          <m:r>
                                            <a:rPr lang="en-US" altLang="ja-JP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ja-JP" sz="20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000" b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  <m: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nary>
                        <m:naryPr>
                          <m:subHide m:val="on"/>
                          <m:supHide m:val="on"/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000" b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  <m: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nary>
                    </m:oMath>
                  </m:oMathPara>
                </a14:m>
                <a:endParaRPr lang="en-US" altLang="ja-JP" sz="2000" b="0" dirty="0"/>
              </a:p>
              <a:p>
                <a:pPr marL="0" indent="0">
                  <a:buNone/>
                </a:pPr>
                <a:endParaRPr lang="en-US" altLang="ja-JP" sz="2000" b="0" dirty="0"/>
              </a:p>
              <a:p>
                <a:pPr marL="0" indent="0">
                  <a:buNone/>
                </a:pPr>
                <a:endParaRPr lang="en-US" altLang="ja-JP" sz="2000" b="0" dirty="0"/>
              </a:p>
              <a:p>
                <a:pPr marL="0" indent="0">
                  <a:buNone/>
                </a:pPr>
                <a:endParaRPr lang="en-US" altLang="ja-JP" sz="2000" b="0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659C167-2CA3-C7DA-3743-806C1370EB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4250" b="-4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303343A-E649-E1A9-903A-F0AC18B7DB71}"/>
              </a:ext>
            </a:extLst>
          </p:cNvPr>
          <p:cNvCxnSpPr/>
          <p:nvPr/>
        </p:nvCxnSpPr>
        <p:spPr>
          <a:xfrm>
            <a:off x="4013200" y="4580467"/>
            <a:ext cx="303953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3B75F1D-360A-8FAC-96AD-D0D5AC528C25}"/>
              </a:ext>
            </a:extLst>
          </p:cNvPr>
          <p:cNvCxnSpPr/>
          <p:nvPr/>
        </p:nvCxnSpPr>
        <p:spPr>
          <a:xfrm>
            <a:off x="7340600" y="4580467"/>
            <a:ext cx="30395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06D2E6-BCAF-230F-EA34-CAA50BE6AC6E}"/>
              </a:ext>
            </a:extLst>
          </p:cNvPr>
          <p:cNvSpPr txBox="1"/>
          <p:nvPr/>
        </p:nvSpPr>
        <p:spPr>
          <a:xfrm>
            <a:off x="4406899" y="4680947"/>
            <a:ext cx="2252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ELBO</a:t>
            </a:r>
            <a:endParaRPr kumimoji="1" lang="ja-JP" altLang="en-US" sz="2000">
              <a:solidFill>
                <a:schemeClr val="accent2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8389DD7B-5E82-73FC-6013-337E4D8311B5}"/>
                  </a:ext>
                </a:extLst>
              </p:cNvPr>
              <p:cNvSpPr txBox="1"/>
              <p:nvPr/>
            </p:nvSpPr>
            <p:spPr>
              <a:xfrm>
                <a:off x="7169149" y="4680947"/>
                <a:ext cx="3674534" cy="860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000" dirty="0">
                    <a:solidFill>
                      <a:schemeClr val="accent1"/>
                    </a:solidFill>
                    <a:latin typeface="Meiryo" panose="020B0604030504040204" pitchFamily="34" charset="-128"/>
                    <a:ea typeface="Meiryo" panose="020B0604030504040204" pitchFamily="34" charset="-128"/>
                  </a:rPr>
                  <a:t>KL </a:t>
                </a:r>
                <a:r>
                  <a:rPr kumimoji="1" lang="ja-JP" altLang="en-US" sz="2000">
                    <a:solidFill>
                      <a:schemeClr val="accent1"/>
                    </a:solidFill>
                    <a:latin typeface="Meiryo" panose="020B0604030504040204" pitchFamily="34" charset="-128"/>
                    <a:ea typeface="Meiryo" panose="020B0604030504040204" pitchFamily="34" charset="-128"/>
                  </a:rPr>
                  <a:t>ダイバージェンス</a:t>
                </a:r>
                <a:br>
                  <a:rPr kumimoji="1" lang="en-US" altLang="ja-JP" sz="2000" dirty="0">
                    <a:solidFill>
                      <a:schemeClr val="accent1">
                        <a:lumMod val="75000"/>
                      </a:schemeClr>
                    </a:solidFill>
                    <a:latin typeface="Meiryo" panose="020B0604030504040204" pitchFamily="34" charset="-128"/>
                    <a:ea typeface="Meiryo" panose="020B0604030504040204" pitchFamily="34" charset="-1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ja-JP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ja-JP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ja-JP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  <m:sSub>
                            <m:sSubPr>
                              <m:ctrlPr>
                                <a:rPr lang="en-US" altLang="ja-JP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1" lang="ja-JP" altLang="en-US" sz="2000">
                  <a:solidFill>
                    <a:schemeClr val="accent1">
                      <a:lumMod val="75000"/>
                    </a:schemeClr>
                  </a:solidFill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8389DD7B-5E82-73FC-6013-337E4D831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149" y="4680947"/>
                <a:ext cx="3674534" cy="860748"/>
              </a:xfrm>
              <a:prstGeom prst="rect">
                <a:avLst/>
              </a:prstGeom>
              <a:blipFill>
                <a:blip r:embed="rId4"/>
                <a:stretch>
                  <a:fillRect t="-43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81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78"/>
    </mc:Choice>
    <mc:Fallback xmlns="">
      <p:transition spd="slow" advTm="3537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325B3-F052-91E2-666B-55232DB0E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A1C26-B72B-28B2-5996-33A8FD23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KL </a:t>
            </a:r>
            <a:r>
              <a:rPr lang="ja-JP" altLang="en-US"/>
              <a:t>ダイバージェンスと</a:t>
            </a:r>
            <a:r>
              <a:rPr lang="en-US" altLang="ja-JP" dirty="0"/>
              <a:t> ELBO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BDE800B-BAF4-CE32-3D90-4F03EC4C3A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ja-JP" dirty="0"/>
                  <a:t>KL </a:t>
                </a:r>
                <a:r>
                  <a:rPr lang="ja-JP" altLang="en-US"/>
                  <a:t>ダイバージェンス</a:t>
                </a:r>
                <a:endParaRPr lang="ja-JP" altLang="en-US" sz="2000" b="0"/>
              </a:p>
              <a:p>
                <a:pPr marL="2857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ja-JP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ja-JP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ja-JP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ja-JP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altLang="ja-JP" i="1" dirty="0"/>
              </a:p>
              <a:p>
                <a:pPr marL="628650" lvl="1"/>
                <a:r>
                  <a:rPr lang="ja-JP" altLang="en-US" b="0"/>
                  <a:t>分布</a:t>
                </a:r>
                <a:r>
                  <a:rPr lang="en-US" altLang="ja-JP" b="0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の</a:t>
                </a:r>
                <a:r>
                  <a:rPr lang="ja-JP" altLang="en-US"/>
                  <a:t>交差エントロピーから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の</a:t>
                </a:r>
                <a:r>
                  <a:rPr lang="ja-JP" altLang="en-US"/>
                  <a:t>情報エントロピーを引いたもの</a:t>
                </a:r>
                <a:endParaRPr lang="en-US" altLang="ja-JP" dirty="0"/>
              </a:p>
              <a:p>
                <a:pPr marL="628650" lvl="1"/>
                <a:r>
                  <a:rPr lang="en-US" altLang="ja-JP" dirty="0"/>
                  <a:t>2 </a:t>
                </a:r>
                <a:r>
                  <a:rPr lang="ja-JP" altLang="en-US"/>
                  <a:t>つの分布が近いほど小さい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ELBO</a:t>
                </a:r>
                <a:endParaRPr lang="en-US" altLang="ja-JP" i="1" dirty="0"/>
              </a:p>
              <a:p>
                <a:pPr marL="285750" lvl="1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ja-JP" b="1" i="1" smtClean="0">
                            <a:latin typeface="Cambria Math" panose="02040503050406030204" pitchFamily="18" charset="0"/>
                          </a:rPr>
                          <m:t>ELBO</m:t>
                        </m:r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func>
                  </m:oMath>
                </a14:m>
                <a:r>
                  <a:rPr lang="en-US" altLang="ja-JP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𝝓</m:t>
                            </m:r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e>
                            <m:r>
                              <a:rPr lang="en-US" altLang="ja-JP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e>
                            <m:r>
                              <a:rPr lang="en-US" altLang="ja-JP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endParaRPr lang="en-US" altLang="ja-JP" dirty="0"/>
              </a:p>
              <a:p>
                <a:pPr marL="628650" lvl="1"/>
                <a:r>
                  <a:rPr lang="en-US" altLang="ja-JP" dirty="0"/>
                  <a:t>ELBO </a:t>
                </a:r>
                <a:r>
                  <a:rPr lang="ja-JP" altLang="en-US"/>
                  <a:t>は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の下界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𝐾𝐿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marL="971550" lvl="2">
                  <a:lnSpc>
                    <a:spcPct val="150000"/>
                  </a:lnSpc>
                </a:pPr>
                <a:r>
                  <a:rPr lang="ja-JP" altLang="en-US"/>
                  <a:t>直接最大化できない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の代わりに下界である</a:t>
                </a:r>
                <a:r>
                  <a:rPr lang="en-US" altLang="ja-JP" dirty="0"/>
                  <a:t> ELBO </a:t>
                </a:r>
                <a:r>
                  <a:rPr lang="ja-JP" altLang="en-US"/>
                  <a:t>を最大化</a:t>
                </a:r>
                <a:endParaRPr lang="en-US" altLang="ja-JP" dirty="0"/>
              </a:p>
              <a:p>
                <a:pPr marL="971550" lvl="2">
                  <a:lnSpc>
                    <a:spcPct val="150000"/>
                  </a:lnSpc>
                </a:pPr>
                <a:r>
                  <a:rPr lang="ja-JP" altLang="en-US"/>
                  <a:t>同時に近似分布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𝝓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が</a:t>
                </a:r>
                <a:r>
                  <a:rPr lang="ja-JP" altLang="en-US"/>
                  <a:t>真の事後分布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に近づく</a:t>
                </a:r>
                <a:endParaRPr lang="en-US" altLang="ja-JP" dirty="0"/>
              </a:p>
              <a:p>
                <a:pPr marL="628650" lvl="1"/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BDE800B-BAF4-CE32-3D90-4F03EC4C3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7" t="-1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05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78"/>
    </mc:Choice>
    <mc:Fallback xmlns="">
      <p:transition spd="slow" advTm="3537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51FD2-E914-07CD-531D-49C3B775A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F6F1F8-5FE7-50B7-BCC7-2A98875C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VAE </a:t>
            </a:r>
            <a:r>
              <a:rPr lang="ja-JP" altLang="en-US"/>
              <a:t>の損失関数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2">
                <a:extLst>
                  <a:ext uri="{FF2B5EF4-FFF2-40B4-BE49-F238E27FC236}">
                    <a16:creationId xmlns:a16="http://schemas.microsoft.com/office/drawing/2014/main" id="{041A7BB2-D5D9-35EF-083F-40BD19A01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m:rPr>
                          <m:aln/>
                        </m:rP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ja-JP" sz="2000" b="0" i="0" smtClean="0">
                          <a:latin typeface="Cambria Math" panose="02040503050406030204" pitchFamily="18" charset="0"/>
                        </a:rPr>
                        <m:t>ELBO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000" b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ja-JP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000" b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nary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∵</m:t>
                          </m:r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000" b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sepChr m:val="∣"/>
                                  <m:ctrlPr>
                                    <a:rPr lang="en-US" altLang="ja-JP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e>
                                  <m:r>
                                    <a:rPr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nary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000" b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ja-JP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r>
                                        <a:rPr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ja-JP" alt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000" b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ja-JP" sz="20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sepChr m:val="∣"/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e>
                                  <m:r>
                                    <a:rPr lang="en-US" altLang="ja-JP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ja-JP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ja-JP" sz="2000" b="0" dirty="0"/>
              </a:p>
              <a:p>
                <a:pPr marL="0" indent="0">
                  <a:buNone/>
                </a:pPr>
                <a:endParaRPr lang="en-US" altLang="ja-JP" sz="2000" b="0" dirty="0"/>
              </a:p>
              <a:p>
                <a:pPr marL="0" indent="0">
                  <a:buNone/>
                </a:pPr>
                <a:endParaRPr lang="en-US" altLang="ja-JP" sz="2000" b="0" dirty="0"/>
              </a:p>
              <a:p>
                <a:pPr marL="0" indent="0" algn="ctr">
                  <a:buNone/>
                </a:pPr>
                <a:r>
                  <a:rPr lang="en-US" altLang="ja-JP" sz="2000" b="0" dirty="0"/>
                  <a:t>VAE </a:t>
                </a:r>
                <a:r>
                  <a:rPr lang="ja-JP" altLang="en-US" sz="2000" b="0"/>
                  <a:t>は</a:t>
                </a:r>
                <a:r>
                  <a:rPr lang="en-US" altLang="ja-JP" sz="2000" b="0" dirty="0"/>
                  <a:t> AE </a:t>
                </a:r>
                <a:r>
                  <a:rPr lang="ja-JP" altLang="en-US" sz="2000" b="0"/>
                  <a:t>に正則化項を追加したものと言える</a:t>
                </a:r>
                <a:endParaRPr lang="en-US" altLang="ja-JP" sz="2000" b="0" dirty="0"/>
              </a:p>
            </p:txBody>
          </p:sp>
        </mc:Choice>
        <mc:Fallback xmlns="">
          <p:sp>
            <p:nvSpPr>
              <p:cNvPr id="4" name="コンテンツ プレースホルダー 2">
                <a:extLst>
                  <a:ext uri="{FF2B5EF4-FFF2-40B4-BE49-F238E27FC236}">
                    <a16:creationId xmlns:a16="http://schemas.microsoft.com/office/drawing/2014/main" id="{041A7BB2-D5D9-35EF-083F-40BD19A01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8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2FE026C-827C-E406-DFCC-DB5B4068F497}"/>
              </a:ext>
            </a:extLst>
          </p:cNvPr>
          <p:cNvCxnSpPr>
            <a:cxnSpLocks/>
          </p:cNvCxnSpPr>
          <p:nvPr/>
        </p:nvCxnSpPr>
        <p:spPr>
          <a:xfrm>
            <a:off x="2802467" y="3970867"/>
            <a:ext cx="276013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FE10F3D-750A-9108-7D4A-1AD580CFA6A7}"/>
              </a:ext>
            </a:extLst>
          </p:cNvPr>
          <p:cNvCxnSpPr>
            <a:cxnSpLocks/>
          </p:cNvCxnSpPr>
          <p:nvPr/>
        </p:nvCxnSpPr>
        <p:spPr>
          <a:xfrm>
            <a:off x="5847816" y="3970867"/>
            <a:ext cx="25595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DACF4E8-4606-C7BD-3628-96F3EB0198CF}"/>
              </a:ext>
            </a:extLst>
          </p:cNvPr>
          <p:cNvSpPr txBox="1"/>
          <p:nvPr/>
        </p:nvSpPr>
        <p:spPr>
          <a:xfrm>
            <a:off x="3056466" y="4044891"/>
            <a:ext cx="2252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再構成誤差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FB6E6F4-0D04-0F08-627E-FCF9DF3CC05C}"/>
              </a:ext>
            </a:extLst>
          </p:cNvPr>
          <p:cNvSpPr txBox="1"/>
          <p:nvPr/>
        </p:nvSpPr>
        <p:spPr>
          <a:xfrm>
            <a:off x="5308599" y="4044891"/>
            <a:ext cx="367453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chemeClr val="accent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正則化項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3946F8B-D24E-7671-C326-35627485C8E4}"/>
              </a:ext>
            </a:extLst>
          </p:cNvPr>
          <p:cNvSpPr txBox="1"/>
          <p:nvPr/>
        </p:nvSpPr>
        <p:spPr>
          <a:xfrm>
            <a:off x="1600200" y="1110953"/>
            <a:ext cx="88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損失</a:t>
            </a:r>
          </a:p>
        </p:txBody>
      </p:sp>
    </p:spTree>
    <p:extLst>
      <p:ext uri="{BB962C8B-B14F-4D97-AF65-F5344CB8AC3E}">
        <p14:creationId xmlns:p14="http://schemas.microsoft.com/office/powerpoint/2010/main" val="364433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78"/>
    </mc:Choice>
    <mc:Fallback xmlns="">
      <p:transition spd="slow" advTm="3537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BEC2-63F0-5B1B-76D9-1378C898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EC2E2F-ED5B-E631-0A36-6DC71C57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D94F16-F78F-7B5F-993F-598C99FE0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の目的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変分推論の導入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ja-JP" dirty="0">
                <a:solidFill>
                  <a:schemeClr val="bg1">
                    <a:lumMod val="75000"/>
                  </a:schemeClr>
                </a:solidFill>
              </a:rPr>
              <a:t>ELBO</a:t>
            </a: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の導出と損失関数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ja-JP" dirty="0"/>
              <a:t>VAE </a:t>
            </a:r>
            <a:r>
              <a:rPr kumimoji="1" lang="ja-JP" altLang="en-US"/>
              <a:t>の実装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の応用例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4092328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1E9F4-693C-DCC2-4368-E7EE720CF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063D607-7985-8F39-1BC7-0C39EE9F2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827" y="1687254"/>
            <a:ext cx="4504265" cy="253364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61D1319-30CC-02AC-4047-A40459392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VAE </a:t>
            </a:r>
            <a:r>
              <a:rPr lang="ja-JP" altLang="en-US"/>
              <a:t>の実装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C8A8499-9C25-E144-8F62-69D4FDE0CE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ja-JP" altLang="en-US"/>
                  <a:t>画像を生成するモデルの構築</a:t>
                </a:r>
                <a:endParaRPr lang="ja-JP" altLang="en-US" sz="2000" b="0"/>
              </a:p>
              <a:p>
                <a:pPr marL="285750" lvl="1" indent="0">
                  <a:buNone/>
                </a:pPr>
                <a:r>
                  <a:rPr lang="ja-JP" altLang="en-US"/>
                  <a:t>数字画像データセット</a:t>
                </a:r>
                <a:r>
                  <a:rPr lang="en-US" altLang="ja-JP" dirty="0"/>
                  <a:t>: MINIST</a:t>
                </a:r>
              </a:p>
              <a:p>
                <a:pPr marL="628650" lvl="1"/>
                <a:r>
                  <a:rPr lang="en-US" altLang="ja-JP" dirty="0"/>
                  <a:t>0 ~ 9 </a:t>
                </a:r>
                <a:r>
                  <a:rPr lang="ja-JP" altLang="en-US"/>
                  <a:t>までの手書き数字画像</a:t>
                </a:r>
                <a:endParaRPr lang="en-US" altLang="ja-JP" dirty="0"/>
              </a:p>
              <a:p>
                <a:pPr marL="628650" lvl="1"/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/>
                  <a:t>確率モデルとしての定式化</a:t>
                </a:r>
                <a:endParaRPr lang="ja-JP" altLang="en-US" sz="2000" b="0"/>
              </a:p>
              <a:p>
                <a:pPr marL="628650" lvl="1"/>
                <a:r>
                  <a:rPr lang="ja-JP" altLang="en-US"/>
                  <a:t>入力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ja-JP" b="1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lit/>
                      </m:rPr>
                      <a:rPr lang="en-US" altLang="ja-JP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ja-JP" b="1" dirty="0"/>
                  <a:t> </a:t>
                </a:r>
                <a:r>
                  <a:rPr lang="en-US" altLang="ja-JP" dirty="0"/>
                  <a:t>(</a:t>
                </a:r>
                <a:r>
                  <a:rPr lang="ja-JP" altLang="en-US" dirty="0"/>
                  <a:t>画像サイズ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=28×28=784</m:t>
                    </m:r>
                    <m:r>
                      <a:rPr lang="en-US" altLang="ja-JP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dirty="0"/>
                  <a:t>)</a:t>
                </a:r>
              </a:p>
              <a:p>
                <a:pPr marL="628650" lvl="1"/>
                <a:r>
                  <a:rPr lang="ja-JP" altLang="en-US"/>
                  <a:t>潜在変数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ja-JP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lit/>
                      </m:rPr>
                      <a:rPr lang="en-US" altLang="ja-JP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C8A8499-9C25-E144-8F62-69D4FDE0CE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17" t="-1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98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50"/>
    </mc:Choice>
    <mc:Fallback xmlns="">
      <p:transition spd="slow" advTm="4305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67F0-6F13-2E1E-06A9-76D67ABE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36AA88-DA92-0C5B-9FBD-8D6F0B60F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VAE </a:t>
            </a:r>
            <a:r>
              <a:rPr lang="ja-JP" altLang="en-US"/>
              <a:t>の実装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ADF4AC9-03CE-2091-CEB9-71E31C5A7B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ja-JP" altLang="en-US"/>
                  <a:t>各分布の設定</a:t>
                </a:r>
                <a:endParaRPr lang="en-US" altLang="ja-JP" dirty="0"/>
              </a:p>
              <a:p>
                <a:pPr marL="628650" lvl="1"/>
                <a:r>
                  <a:rPr lang="ja-JP" altLang="en-US"/>
                  <a:t>事前分布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marL="971550" lvl="2">
                  <a:lnSpc>
                    <a:spcPct val="150000"/>
                  </a:lnSpc>
                </a:pPr>
                <a:r>
                  <a:rPr lang="ja-JP" altLang="en-US"/>
                  <a:t>標準正規分布がよく利用される</a:t>
                </a:r>
                <a:endParaRPr lang="en-US" altLang="ja-JP" dirty="0"/>
              </a:p>
              <a:p>
                <a:pPr marL="628650" lvl="1"/>
                <a:r>
                  <a:rPr lang="ja-JP" altLang="en-US"/>
                  <a:t>近似事後分布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ja-JP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 i="1" smtClean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ja-JP" b="1" i="1" smtClean="0">
                                <a:latin typeface="Cambria Math" panose="02040503050406030204" pitchFamily="18" charset="0"/>
                              </a:rPr>
                              <m:t>𝝓</m:t>
                            </m:r>
                          </m:sub>
                        </m:sSub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 i="0" smtClean="0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  <m:sub>
                            <m:r>
                              <a:rPr lang="en-US" altLang="ja-JP" b="1" i="1" smtClean="0">
                                <a:latin typeface="Cambria Math" panose="02040503050406030204" pitchFamily="18" charset="0"/>
                              </a:rPr>
                              <m:t>𝝓</m:t>
                            </m:r>
                          </m:sub>
                        </m:sSub>
                      </m:e>
                    </m:d>
                  </m:oMath>
                </a14:m>
                <a:endParaRPr lang="en-US" altLang="ja-JP" dirty="0"/>
              </a:p>
              <a:p>
                <a:pPr marL="971550" lvl="2">
                  <a:lnSpc>
                    <a:spcPct val="150000"/>
                  </a:lnSpc>
                </a:pPr>
                <a:r>
                  <a:rPr lang="ja-JP" altLang="en-US"/>
                  <a:t>計算を簡単にするために事前分布と同じ分布族にすることが多い</a:t>
                </a:r>
                <a:endParaRPr lang="en-US" altLang="ja-JP" dirty="0"/>
              </a:p>
              <a:p>
                <a:pPr marL="628650" lvl="1"/>
                <a:r>
                  <a:rPr lang="ja-JP" altLang="en-US"/>
                  <a:t>尤度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ja-JP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Bernoulli</m:t>
                    </m:r>
                    <m:r>
                      <m:rPr>
                        <m:nor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m:rPr>
                        <m:nor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dirty="0"/>
              </a:p>
              <a:p>
                <a:pPr marL="971550" lvl="2">
                  <a:lnSpc>
                    <a:spcPct val="150000"/>
                  </a:lnSpc>
                </a:pPr>
                <a:r>
                  <a:rPr lang="ja-JP" altLang="en-US"/>
                  <a:t>白黒画像の各セルの値を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に従うと仮定</a:t>
                </a:r>
                <a:endParaRPr lang="en-US" altLang="ja-JP" dirty="0"/>
              </a:p>
              <a:p>
                <a:pPr marL="971550" lvl="2">
                  <a:lnSpc>
                    <a:spcPct val="150000"/>
                  </a:lnSpc>
                </a:pPr>
                <a:r>
                  <a:rPr lang="en-US" altLang="ja-JP" dirty="0"/>
                  <a:t>0 </a:t>
                </a:r>
                <a:r>
                  <a:rPr lang="ja-JP" altLang="en-US"/>
                  <a:t>に近いほど黒、</a:t>
                </a:r>
                <a:r>
                  <a:rPr lang="en-US" altLang="ja-JP" dirty="0"/>
                  <a:t>1 </a:t>
                </a:r>
                <a:r>
                  <a:rPr lang="ja-JP" altLang="en-US"/>
                  <a:t>に近いほど白</a:t>
                </a:r>
                <a:endParaRPr lang="en-US" altLang="ja-JP" dirty="0"/>
              </a:p>
              <a:p>
                <a:pPr marL="628650" lvl="1"/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ADF4AC9-03CE-2091-CEB9-71E31C5A7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7" t="-1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47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50"/>
    </mc:Choice>
    <mc:Fallback xmlns="">
      <p:transition spd="slow" advTm="4305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B7C6-B871-171B-A9C7-5A8653B54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50D5AA-5C35-111B-191A-76FF09E70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損失関数</a:t>
            </a:r>
            <a:r>
              <a:rPr lang="ja-JP" altLang="en-US"/>
              <a:t>の計算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9EA19FF-9C77-2157-A997-BCAF60B0FC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ja-JP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ja-JP" alt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000" b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sepChr m:val="∣"/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e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ja-JP" sz="2000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ja-JP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ja-JP" sz="2000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/>
                  <a:t>再構成誤差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285750" lvl="1" indent="0">
                  <a:buNone/>
                </a:pPr>
                <a:r>
                  <a:rPr lang="en-US" altLang="ja-JP" i="1" dirty="0"/>
                  <a:t>※</a:t>
                </a:r>
                <a:r>
                  <a:rPr lang="ja-JP" altLang="en-US" i="1"/>
                  <a:t>式変形の詳細は参考文献を確認してください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28575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sepChr m:val="∣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m:rPr>
                          <m:aln/>
                        </m:rPr>
                        <a:rPr lang="en-US" altLang="ja-JP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nary>
                            <m:naryPr>
                              <m:chr m:val="∏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p>
                              </m:sSubSup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altLang="ja-JP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</a:rPr>
                                                <m:t>𝜆</m:t>
                                              </m:r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m:rPr>
                                  <m:lit/>
                                </m:r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nary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lit/>
                            </m:r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m:rPr>
                          <m:lit/>
                        </m:rPr>
                        <a:rPr lang="en-US" altLang="ja-JP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9EA19FF-9C77-2157-A997-BCAF60B0FC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7" b="-23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AFB1846-58EA-1DD5-B5DA-89711A898EF5}"/>
              </a:ext>
            </a:extLst>
          </p:cNvPr>
          <p:cNvCxnSpPr>
            <a:cxnSpLocks/>
          </p:cNvCxnSpPr>
          <p:nvPr/>
        </p:nvCxnSpPr>
        <p:spPr>
          <a:xfrm>
            <a:off x="3522133" y="1651000"/>
            <a:ext cx="276013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031C1A3-A8B4-2436-DA4B-091973F62482}"/>
              </a:ext>
            </a:extLst>
          </p:cNvPr>
          <p:cNvCxnSpPr>
            <a:cxnSpLocks/>
          </p:cNvCxnSpPr>
          <p:nvPr/>
        </p:nvCxnSpPr>
        <p:spPr>
          <a:xfrm>
            <a:off x="6567482" y="1651000"/>
            <a:ext cx="25595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31F2D4-EDD7-2D00-EA17-AF415A136D7A}"/>
              </a:ext>
            </a:extLst>
          </p:cNvPr>
          <p:cNvSpPr txBox="1"/>
          <p:nvPr/>
        </p:nvSpPr>
        <p:spPr>
          <a:xfrm>
            <a:off x="3776132" y="1725024"/>
            <a:ext cx="2252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再構成誤差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6698A12-7636-6819-C342-5F16D6548CB4}"/>
              </a:ext>
            </a:extLst>
          </p:cNvPr>
          <p:cNvSpPr txBox="1"/>
          <p:nvPr/>
        </p:nvSpPr>
        <p:spPr>
          <a:xfrm>
            <a:off x="6028265" y="1725024"/>
            <a:ext cx="367453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chemeClr val="accent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正則化項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2426E6C-7E0B-8EC0-335C-0600AAF5CAD2}"/>
              </a:ext>
            </a:extLst>
          </p:cNvPr>
          <p:cNvSpPr txBox="1"/>
          <p:nvPr/>
        </p:nvSpPr>
        <p:spPr>
          <a:xfrm>
            <a:off x="4369491" y="5975843"/>
            <a:ext cx="569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バイナリクロスエントロピーと等価</a:t>
            </a:r>
          </a:p>
        </p:txBody>
      </p:sp>
    </p:spTree>
    <p:extLst>
      <p:ext uri="{BB962C8B-B14F-4D97-AF65-F5344CB8AC3E}">
        <p14:creationId xmlns:p14="http://schemas.microsoft.com/office/powerpoint/2010/main" val="13004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50"/>
    </mc:Choice>
    <mc:Fallback xmlns="">
      <p:transition spd="slow" advTm="4305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E5A9-3BFE-1A3D-42B2-92EA753E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0D7F5B-8AB1-7D24-D962-ED375E4F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損失関数</a:t>
            </a:r>
            <a:r>
              <a:rPr lang="ja-JP" altLang="en-US"/>
              <a:t>の計算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331CDFC-EDDD-77E7-03C0-9207881091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ja-JP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ja-JP" alt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000" b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000" b="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sepChr m:val="∣"/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e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ja-JP" sz="2000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ja-JP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en-US" altLang="ja-JP" sz="2000" b="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ja-JP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ja-JP" sz="2000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i="1">
                    <a:latin typeface="Cambria Math" panose="02040503050406030204" pitchFamily="18" charset="0"/>
                  </a:rPr>
                  <a:t>正則化項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285750" lvl="1" indent="0">
                  <a:buNone/>
                </a:pPr>
                <a:r>
                  <a:rPr lang="en-US" altLang="ja-JP" i="1" dirty="0"/>
                  <a:t>※</a:t>
                </a:r>
                <a:r>
                  <a:rPr lang="ja-JP" altLang="en-US" i="1"/>
                  <a:t>式変形の詳細は参考文献を確認してください</a:t>
                </a:r>
                <a:endParaRPr lang="en-US" altLang="ja-JP" i="1" dirty="0"/>
              </a:p>
              <a:p>
                <a:pPr marL="28575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</m:e>
                      </m:d>
                      <m:r>
                        <m:rPr>
                          <m:aln/>
                        </m:rP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sub>
                                        <m:sup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sub>
                                        <m:sup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unc>
                                    <m:func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ja-JP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ja-JP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ja-JP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func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331CDFC-EDDD-77E7-03C0-9207881091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77EA1FA-B28C-09B9-93FC-28A35966AD3C}"/>
              </a:ext>
            </a:extLst>
          </p:cNvPr>
          <p:cNvCxnSpPr>
            <a:cxnSpLocks/>
          </p:cNvCxnSpPr>
          <p:nvPr/>
        </p:nvCxnSpPr>
        <p:spPr>
          <a:xfrm>
            <a:off x="3522133" y="1651000"/>
            <a:ext cx="276013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4C2C66-032C-B88C-38E2-00A0B8E59784}"/>
              </a:ext>
            </a:extLst>
          </p:cNvPr>
          <p:cNvCxnSpPr>
            <a:cxnSpLocks/>
          </p:cNvCxnSpPr>
          <p:nvPr/>
        </p:nvCxnSpPr>
        <p:spPr>
          <a:xfrm>
            <a:off x="6567482" y="1651000"/>
            <a:ext cx="25595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967F8F-D371-3FE6-5A51-8666D0F84D5B}"/>
              </a:ext>
            </a:extLst>
          </p:cNvPr>
          <p:cNvSpPr txBox="1"/>
          <p:nvPr/>
        </p:nvSpPr>
        <p:spPr>
          <a:xfrm>
            <a:off x="3776132" y="1725024"/>
            <a:ext cx="2252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再構成誤差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9DD4D13-CDDE-787A-3139-158B4A2EF0F6}"/>
              </a:ext>
            </a:extLst>
          </p:cNvPr>
          <p:cNvSpPr txBox="1"/>
          <p:nvPr/>
        </p:nvSpPr>
        <p:spPr>
          <a:xfrm>
            <a:off x="6028265" y="1725024"/>
            <a:ext cx="367453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chemeClr val="accent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正則化項</a:t>
            </a:r>
          </a:p>
        </p:txBody>
      </p:sp>
    </p:spTree>
    <p:extLst>
      <p:ext uri="{BB962C8B-B14F-4D97-AF65-F5344CB8AC3E}">
        <p14:creationId xmlns:p14="http://schemas.microsoft.com/office/powerpoint/2010/main" val="271891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50"/>
    </mc:Choice>
    <mc:Fallback xmlns="">
      <p:transition spd="slow" advTm="4305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C694A-E6DD-AB6B-1C8B-E7F68D16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50D5D-34F7-F30F-946D-0FA64663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</a:t>
            </a:r>
            <a:r>
              <a:rPr lang="en-US" altLang="ja-JP" dirty="0"/>
              <a:t>eparameterization Trick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313FAAE-D322-BA20-0593-628396A28E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ja-JP" altLang="en-US"/>
                  <a:t>誤差逆伝播法による学習</a:t>
                </a:r>
                <a:endParaRPr lang="en-US" altLang="ja-JP" dirty="0"/>
              </a:p>
              <a:p>
                <a:pPr marL="285750" lvl="1" indent="0">
                  <a:buNone/>
                </a:pPr>
                <a:r>
                  <a:rPr lang="en-US" altLang="ja-JP" dirty="0"/>
                  <a:t>VAE </a:t>
                </a:r>
                <a:r>
                  <a:rPr lang="ja-JP" altLang="en-US"/>
                  <a:t>のエンコーダは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𝝓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ja-JP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のパラメータ</a:t>
                </a:r>
                <a:r>
                  <a:rPr lang="ja-JP" altLang="en-US"/>
                  <a:t>を出力</a:t>
                </a:r>
                <a:endParaRPr lang="en-US" altLang="ja-JP" dirty="0"/>
              </a:p>
              <a:p>
                <a:pPr marL="628650" lvl="1"/>
                <a:r>
                  <a:rPr lang="ja-JP" altLang="en-US"/>
                  <a:t>平均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endParaRPr lang="en-US" altLang="ja-JP" b="1" dirty="0"/>
              </a:p>
              <a:p>
                <a:pPr marL="628650" lvl="1"/>
                <a:r>
                  <a:rPr lang="ja-JP" altLang="en-US"/>
                  <a:t>標準偏差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endParaRPr lang="en-US" altLang="ja-JP" b="1" dirty="0"/>
              </a:p>
              <a:p>
                <a:pPr marL="28575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ja-JP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1" i="1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ja-JP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を直接サンプリングする操作は微分不可</a:t>
                </a:r>
                <a:endParaRPr lang="en-US" altLang="ja-JP" dirty="0"/>
              </a:p>
              <a:p>
                <a:pPr marL="285750" lvl="1" indent="0">
                  <a:buNone/>
                </a:pPr>
                <a:r>
                  <a:rPr lang="ja-JP" altLang="en-US"/>
                  <a:t>→</a:t>
                </a:r>
                <a:r>
                  <a:rPr lang="en-US" altLang="ja-JP" dirty="0"/>
                  <a:t> </a:t>
                </a:r>
                <a:r>
                  <a:rPr lang="ja-JP" altLang="en-US"/>
                  <a:t>エンコーダ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>
                        <a:latin typeface="Cambria Math" panose="02040503050406030204" pitchFamily="18" charset="0"/>
                      </a:rPr>
                      <m:t>𝝓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に</a:t>
                </a:r>
                <a:r>
                  <a:rPr lang="ja-JP" altLang="en-US"/>
                  <a:t>勾配が伝わらない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Reparameterization Trick</a:t>
                </a:r>
              </a:p>
              <a:p>
                <a:pPr marL="285750" lvl="1" indent="0">
                  <a:buNone/>
                </a:pPr>
                <a:r>
                  <a:rPr lang="ja-JP" altLang="en-US"/>
                  <a:t>ノイズ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𝝐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を</a:t>
                </a:r>
                <a:r>
                  <a:rPr lang="ja-JP" altLang="en-US"/>
                  <a:t>外からサンプリング</a:t>
                </a:r>
                <a:br>
                  <a:rPr lang="en-US" altLang="ja-JP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altLang="ja-JP" b="1" dirty="0"/>
              </a:p>
              <a:p>
                <a:pPr marL="28575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/>
                  <a:t>と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で</a:t>
                </a:r>
                <a:r>
                  <a:rPr lang="ja-JP" altLang="en-US"/>
                  <a:t>微分可能</a:t>
                </a:r>
                <a:r>
                  <a:rPr lang="en-US" altLang="ja-JP" dirty="0"/>
                  <a:t> </a:t>
                </a:r>
                <a:r>
                  <a:rPr lang="ja-JP" altLang="en-US"/>
                  <a:t>→</a:t>
                </a:r>
                <a:r>
                  <a:rPr lang="en-US" altLang="ja-JP" dirty="0"/>
                  <a:t> </a:t>
                </a:r>
                <a:r>
                  <a:rPr lang="ja-JP" altLang="en-US"/>
                  <a:t>デコーダからエンコーダまで誤差逆伝播が可能に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313FAAE-D322-BA20-0593-628396A28E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7" t="-1250" b="-4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653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50"/>
    </mc:Choice>
    <mc:Fallback xmlns="">
      <p:transition spd="slow" advTm="4305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2619-549E-074E-AAF9-4C21012B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C19B4C-419F-1FC1-B15F-982B5C82F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8650" lvl="1"/>
            <a:r>
              <a:rPr lang="ja-JP" altLang="en-US"/>
              <a:t>エンコーダ、デコーダに</a:t>
            </a:r>
            <a:r>
              <a:rPr lang="en-US" altLang="ja-JP" dirty="0"/>
              <a:t> DNN </a:t>
            </a:r>
            <a:r>
              <a:rPr lang="ja-JP" altLang="en-US"/>
              <a:t>を使用</a:t>
            </a:r>
            <a:endParaRPr lang="en-US" altLang="ja-JP" dirty="0"/>
          </a:p>
          <a:p>
            <a:pPr marL="628650" lvl="1"/>
            <a:r>
              <a:rPr lang="en-US" altLang="ja-JP" dirty="0"/>
              <a:t>Reparameterization Trick </a:t>
            </a:r>
            <a:r>
              <a:rPr lang="ja-JP" altLang="en-US"/>
              <a:t>により、デコーダからエンコーダまで</a:t>
            </a:r>
            <a:br>
              <a:rPr lang="en-US" altLang="ja-JP" dirty="0"/>
            </a:br>
            <a:r>
              <a:rPr lang="ja-JP" altLang="en-US"/>
              <a:t>勾配が伝播し学習可能</a:t>
            </a:r>
            <a:br>
              <a:rPr lang="en-US" altLang="ja-JP" dirty="0"/>
            </a:b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260E91-061E-7A50-05F9-8A5A4D1ED218}"/>
              </a:ext>
            </a:extLst>
          </p:cNvPr>
          <p:cNvSpPr txBox="1"/>
          <p:nvPr/>
        </p:nvSpPr>
        <p:spPr>
          <a:xfrm>
            <a:off x="1399940" y="3707596"/>
            <a:ext cx="569325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入力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5B6CBFB-E65F-B889-42ED-9E1AE744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VAE </a:t>
            </a:r>
            <a:r>
              <a:rPr kumimoji="1" lang="ja-JP" altLang="en-US"/>
              <a:t>のアーキテクチャ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AFE8A12C-F517-0669-1443-56FEFF13E76F}"/>
                  </a:ext>
                </a:extLst>
              </p:cNvPr>
              <p:cNvSpPr txBox="1"/>
              <p:nvPr/>
            </p:nvSpPr>
            <p:spPr>
              <a:xfrm>
                <a:off x="624516" y="3794147"/>
                <a:ext cx="757427" cy="52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400" i="1">
                    <a:latin typeface="Meiryo" panose="020B0604030504040204" pitchFamily="34" charset="-128"/>
                    <a:ea typeface="Meiryo" panose="020B0604030504040204" pitchFamily="34" charset="-128"/>
                  </a:rPr>
                  <a:t>入力</a:t>
                </a:r>
                <a:r>
                  <a:rPr kumimoji="1" lang="en-US" altLang="ja-JP" sz="1400" i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1400" b="1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𝒙</m:t>
                    </m:r>
                  </m:oMath>
                </a14:m>
                <a:endParaRPr kumimoji="1" lang="en-US" altLang="ja-JP" sz="1400" b="1" i="1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AFE8A12C-F517-0669-1443-56FEFF13E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16" y="3794147"/>
                <a:ext cx="757427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1B089A-6800-6EC2-FA5D-2425977D4DB5}"/>
              </a:ext>
            </a:extLst>
          </p:cNvPr>
          <p:cNvSpPr txBox="1"/>
          <p:nvPr/>
        </p:nvSpPr>
        <p:spPr>
          <a:xfrm>
            <a:off x="2004582" y="3794148"/>
            <a:ext cx="1147231" cy="521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400"/>
              <a:t>エンコーダ</a:t>
            </a:r>
            <a:endParaRPr kumimoji="1" lang="ja-JP" altLang="en-US" sz="1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B1C6E193-0A53-BE32-8F6C-679705847E49}"/>
                  </a:ext>
                </a:extLst>
              </p:cNvPr>
              <p:cNvSpPr txBox="1"/>
              <p:nvPr/>
            </p:nvSpPr>
            <p:spPr>
              <a:xfrm>
                <a:off x="3841006" y="3794148"/>
                <a:ext cx="1304710" cy="521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400" i="1">
                    <a:latin typeface="Cambria Math" panose="02040503050406030204" pitchFamily="18" charset="0"/>
                    <a:ea typeface="Meiryo" panose="020B0604030504040204" pitchFamily="34" charset="-128"/>
                  </a:rPr>
                  <a:t>パラメータ</a:t>
                </a:r>
                <a:r>
                  <a:rPr kumimoji="1" lang="en-US" altLang="ja-JP" sz="1400" i="1" dirty="0">
                    <a:latin typeface="Cambria Math" panose="02040503050406030204" pitchFamily="18" charset="0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1400" b="1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𝝓</m:t>
                    </m:r>
                  </m:oMath>
                </a14:m>
                <a:endParaRPr kumimoji="1" lang="ja-JP" altLang="en-US" sz="1400" b="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B1C6E193-0A53-BE32-8F6C-679705847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006" y="3794148"/>
                <a:ext cx="1304710" cy="521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894E03D7-51F7-10E4-EC6E-A9D9BDB4A50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381943" y="4055147"/>
            <a:ext cx="6226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AA04DAC-5861-F9D3-E8C7-1A881512929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151813" y="4055148"/>
            <a:ext cx="6891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FFE571B-BC11-AEBD-8FFF-879D0362D42B}"/>
                  </a:ext>
                </a:extLst>
              </p:cNvPr>
              <p:cNvSpPr txBox="1"/>
              <p:nvPr/>
            </p:nvSpPr>
            <p:spPr>
              <a:xfrm>
                <a:off x="6811465" y="3794147"/>
                <a:ext cx="1085347" cy="521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400">
                    <a:latin typeface="Meiryo" panose="020B0604030504040204" pitchFamily="34" charset="-128"/>
                    <a:ea typeface="Meiryo" panose="020B0604030504040204" pitchFamily="34" charset="-128"/>
                  </a:rPr>
                  <a:t>潜在変数</a:t>
                </a:r>
                <a:r>
                  <a:rPr kumimoji="1" lang="en-US" altLang="ja-JP" sz="14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1400" b="1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𝒛</m:t>
                    </m:r>
                  </m:oMath>
                </a14:m>
                <a:endParaRPr kumimoji="1" lang="en-US" altLang="ja-JP" sz="1400" b="1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FFE571B-BC11-AEBD-8FFF-879D0362D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465" y="3794147"/>
                <a:ext cx="1085347" cy="521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00A810-A5F4-071C-1D57-09D3EB3568C5}"/>
              </a:ext>
            </a:extLst>
          </p:cNvPr>
          <p:cNvSpPr txBox="1"/>
          <p:nvPr/>
        </p:nvSpPr>
        <p:spPr>
          <a:xfrm>
            <a:off x="4999659" y="3585223"/>
            <a:ext cx="1889751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ja-JP" sz="1400" dirty="0"/>
              <a:t>Reparameterization Trick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6F06E94C-3824-83B0-DE28-65FC8BA44069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145716" y="4055147"/>
            <a:ext cx="166574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13D7FE9-BFF7-BFEF-99ED-CF3941F9C820}"/>
              </a:ext>
            </a:extLst>
          </p:cNvPr>
          <p:cNvSpPr txBox="1"/>
          <p:nvPr/>
        </p:nvSpPr>
        <p:spPr>
          <a:xfrm>
            <a:off x="3211747" y="3707595"/>
            <a:ext cx="569325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出力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4BCB1F4-A5A9-A6E9-F83F-3E248D7F64FF}"/>
              </a:ext>
            </a:extLst>
          </p:cNvPr>
          <p:cNvSpPr txBox="1"/>
          <p:nvPr/>
        </p:nvSpPr>
        <p:spPr>
          <a:xfrm>
            <a:off x="7972696" y="3708643"/>
            <a:ext cx="569325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入力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EFBAF7A-9315-EDCC-89DB-AB1AF7D4D984}"/>
              </a:ext>
            </a:extLst>
          </p:cNvPr>
          <p:cNvSpPr txBox="1"/>
          <p:nvPr/>
        </p:nvSpPr>
        <p:spPr>
          <a:xfrm>
            <a:off x="8623271" y="3794147"/>
            <a:ext cx="1002036" cy="521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400"/>
              <a:t>デコーダ</a:t>
            </a:r>
            <a:endParaRPr kumimoji="1" lang="ja-JP" altLang="en-US" sz="1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0FD63FA5-3DBA-1900-AA75-7686FDB9D20D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7891447" y="4055147"/>
            <a:ext cx="7318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75F7971-F065-9DA1-7AFC-3566FEC94C97}"/>
                  </a:ext>
                </a:extLst>
              </p:cNvPr>
              <p:cNvSpPr txBox="1"/>
              <p:nvPr/>
            </p:nvSpPr>
            <p:spPr>
              <a:xfrm>
                <a:off x="9163262" y="3643916"/>
                <a:ext cx="1889751" cy="521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1" i="1" smtClean="0">
                              <a:latin typeface="Cambria Math" panose="02040503050406030204" pitchFamily="18" charset="0"/>
                              <a:ea typeface="Meiryo" panose="020B0604030504040204" pitchFamily="34" charset="-128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Meiryo" panose="020B0604030504040204" pitchFamily="34" charset="-128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1400" b="1" i="1" smtClean="0">
                              <a:latin typeface="Cambria Math" panose="02040503050406030204" pitchFamily="18" charset="0"/>
                              <a:ea typeface="Meiryo" panose="020B0604030504040204" pitchFamily="34" charset="-128"/>
                            </a:rPr>
                            <m:t>𝜽</m:t>
                          </m:r>
                        </m:sub>
                      </m:sSub>
                      <m:d>
                        <m:dPr>
                          <m:sepChr m:val="∣"/>
                          <m:ctrlPr>
                            <a:rPr kumimoji="1" lang="en-US" altLang="ja-JP" sz="1400" b="1" i="1" smtClean="0">
                              <a:latin typeface="Cambria Math" panose="02040503050406030204" pitchFamily="18" charset="0"/>
                              <a:ea typeface="Meiryo" panose="020B0604030504040204" pitchFamily="34" charset="-128"/>
                            </a:rPr>
                          </m:ctrlPr>
                        </m:dPr>
                        <m:e>
                          <m:r>
                            <a:rPr kumimoji="1" lang="en-US" altLang="ja-JP" sz="1400" b="1" i="1" smtClean="0">
                              <a:latin typeface="Cambria Math" panose="02040503050406030204" pitchFamily="18" charset="0"/>
                              <a:ea typeface="Meiryo" panose="020B0604030504040204" pitchFamily="34" charset="-128"/>
                            </a:rPr>
                            <m:t>𝒙</m:t>
                          </m:r>
                        </m:e>
                        <m:e>
                          <m:r>
                            <a:rPr kumimoji="1" lang="en-US" altLang="ja-JP" sz="1400" b="1" i="1" smtClean="0">
                              <a:latin typeface="Cambria Math" panose="02040503050406030204" pitchFamily="18" charset="0"/>
                              <a:ea typeface="Meiryo" panose="020B0604030504040204" pitchFamily="34" charset="-128"/>
                            </a:rPr>
                            <m:t>𝒛</m:t>
                          </m:r>
                        </m:e>
                      </m:d>
                    </m:oMath>
                  </m:oMathPara>
                </a14:m>
                <a:endParaRPr kumimoji="1" lang="ja-JP" altLang="en-US" sz="1400" b="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75F7971-F065-9DA1-7AFC-3566FEC94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3262" y="3643916"/>
                <a:ext cx="1889751" cy="521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59B56615-64B2-1EB8-FD9D-CC1A2D19639C}"/>
              </a:ext>
            </a:extLst>
          </p:cNvPr>
          <p:cNvCxnSpPr>
            <a:cxnSpLocks/>
            <a:stCxn id="31" idx="3"/>
            <a:endCxn id="48" idx="1"/>
          </p:cNvCxnSpPr>
          <p:nvPr/>
        </p:nvCxnSpPr>
        <p:spPr>
          <a:xfrm>
            <a:off x="9625307" y="4055147"/>
            <a:ext cx="9656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C5C75A1B-57FD-871E-6DC3-C354311E9328}"/>
                  </a:ext>
                </a:extLst>
              </p:cNvPr>
              <p:cNvSpPr txBox="1"/>
              <p:nvPr/>
            </p:nvSpPr>
            <p:spPr>
              <a:xfrm>
                <a:off x="10590968" y="3794147"/>
                <a:ext cx="762832" cy="52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400" i="1">
                    <a:latin typeface="Meiryo" panose="020B0604030504040204" pitchFamily="34" charset="-128"/>
                    <a:ea typeface="Meiryo" panose="020B0604030504040204" pitchFamily="34" charset="-128"/>
                  </a:rPr>
                  <a:t>出力</a:t>
                </a:r>
                <a:r>
                  <a:rPr kumimoji="1" lang="en-US" altLang="ja-JP" sz="1400" i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sz="1400" i="1" smtClean="0">
                            <a:latin typeface="Cambria Math" panose="02040503050406030204" pitchFamily="18" charset="0"/>
                            <a:ea typeface="Meiryo" panose="020B0604030504040204" pitchFamily="34" charset="-128"/>
                          </a:rPr>
                        </m:ctrlPr>
                      </m:accPr>
                      <m:e>
                        <m:r>
                          <a:rPr kumimoji="1" lang="en-US" altLang="ja-JP" sz="1400" b="1" i="1" smtClean="0">
                            <a:latin typeface="Cambria Math" panose="02040503050406030204" pitchFamily="18" charset="0"/>
                            <a:ea typeface="Meiryo" panose="020B0604030504040204" pitchFamily="34" charset="-128"/>
                          </a:rPr>
                          <m:t>𝒙</m:t>
                        </m:r>
                      </m:e>
                    </m:acc>
                  </m:oMath>
                </a14:m>
                <a:endParaRPr kumimoji="1" lang="en-US" altLang="ja-JP" sz="1400" b="1" i="1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C5C75A1B-57FD-871E-6DC3-C354311E9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0968" y="3794147"/>
                <a:ext cx="762832" cy="52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テキスト ボックス 69">
                <a:extLst>
                  <a:ext uri="{FF2B5EF4-FFF2-40B4-BE49-F238E27FC236}">
                    <a16:creationId xmlns:a16="http://schemas.microsoft.com/office/drawing/2014/main" id="{01260090-BC98-C2AB-AD08-2A9633CA44CF}"/>
                  </a:ext>
                </a:extLst>
              </p:cNvPr>
              <p:cNvSpPr txBox="1"/>
              <p:nvPr/>
            </p:nvSpPr>
            <p:spPr>
              <a:xfrm>
                <a:off x="2997831" y="4988616"/>
                <a:ext cx="2794000" cy="427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kumimoji="1" lang="en-US" altLang="ja-JP" sz="20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sub>
                      </m:sSub>
                      <m:d>
                        <m:dPr>
                          <m:sepChr m:val="∣"/>
                          <m:ctrlPr>
                            <a:rPr kumimoji="1" lang="en-US" altLang="ja-JP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e>
                          <m:r>
                            <a:rPr kumimoji="1" lang="en-US" altLang="ja-JP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kumimoji="1" lang="ja-JP" altLang="en-US" sz="2000" b="1"/>
              </a:p>
            </p:txBody>
          </p:sp>
        </mc:Choice>
        <mc:Fallback xmlns="">
          <p:sp>
            <p:nvSpPr>
              <p:cNvPr id="70" name="テキスト ボックス 69">
                <a:extLst>
                  <a:ext uri="{FF2B5EF4-FFF2-40B4-BE49-F238E27FC236}">
                    <a16:creationId xmlns:a16="http://schemas.microsoft.com/office/drawing/2014/main" id="{01260090-BC98-C2AB-AD08-2A9633CA4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831" y="4988616"/>
                <a:ext cx="2794000" cy="427618"/>
              </a:xfrm>
              <a:prstGeom prst="rect">
                <a:avLst/>
              </a:prstGeom>
              <a:blipFill>
                <a:blip r:embed="rId8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左中かっこ 71">
            <a:extLst>
              <a:ext uri="{FF2B5EF4-FFF2-40B4-BE49-F238E27FC236}">
                <a16:creationId xmlns:a16="http://schemas.microsoft.com/office/drawing/2014/main" id="{A764DAF2-E246-940B-D959-F8A47DEA5BD7}"/>
              </a:ext>
            </a:extLst>
          </p:cNvPr>
          <p:cNvSpPr/>
          <p:nvPr/>
        </p:nvSpPr>
        <p:spPr>
          <a:xfrm rot="16200000">
            <a:off x="4191631" y="2319055"/>
            <a:ext cx="406400" cy="4833273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058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50"/>
    </mc:Choice>
    <mc:Fallback xmlns="">
      <p:transition spd="slow" advTm="4305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48D4E-97CD-4D23-2415-6C9F34171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コンテンツ プレースホルダー 12">
            <a:extLst>
              <a:ext uri="{FF2B5EF4-FFF2-40B4-BE49-F238E27FC236}">
                <a16:creationId xmlns:a16="http://schemas.microsoft.com/office/drawing/2014/main" id="{B1A0A8FA-22B0-D30A-54AD-6B626CD25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44184" y="1854148"/>
            <a:ext cx="4796256" cy="479625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BD254C1-977E-2C6B-5E90-16871B131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潜在空間の可視化</a:t>
            </a:r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DDBEE31-0E61-A4A9-DC79-ECBC40C31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54148"/>
            <a:ext cx="4796256" cy="4796256"/>
          </a:xfrm>
          <a:prstGeom prst="rect">
            <a:avLst/>
          </a:prstGeom>
        </p:spPr>
      </p:pic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4CF8B37A-1285-D487-4707-90B0AAAE0554}"/>
              </a:ext>
            </a:extLst>
          </p:cNvPr>
          <p:cNvSpPr txBox="1">
            <a:spLocks/>
          </p:cNvSpPr>
          <p:nvPr/>
        </p:nvSpPr>
        <p:spPr>
          <a:xfrm>
            <a:off x="760652" y="1110953"/>
            <a:ext cx="10593148" cy="5066010"/>
          </a:xfrm>
          <a:prstGeom prst="rect">
            <a:avLst/>
          </a:prstGeom>
        </p:spPr>
        <p:txBody>
          <a:bodyPr/>
          <a:lstStyle>
            <a:lvl1pPr marL="514350" indent="-5143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kumimoji="1" sz="2800" b="1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n"/>
              <a:tabLst/>
              <a:defRPr kumimoji="1" sz="20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1430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Ø"/>
              <a:tabLst/>
              <a:defRPr kumimoji="1" sz="20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0">
              <a:buNone/>
            </a:pPr>
            <a:r>
              <a:rPr lang="ja-JP" altLang="en-US"/>
              <a:t>正規化項により</a:t>
            </a:r>
            <a:r>
              <a:rPr lang="en-US" altLang="ja-JP" dirty="0"/>
              <a:t> VAE </a:t>
            </a:r>
            <a:r>
              <a:rPr lang="ja-JP" altLang="en-US"/>
              <a:t>の分布は</a:t>
            </a:r>
            <a:r>
              <a:rPr lang="en-US" altLang="ja-JP" dirty="0"/>
              <a:t> AE </a:t>
            </a:r>
            <a:r>
              <a:rPr lang="ja-JP" altLang="en-US"/>
              <a:t>と比べて標準正規分布に近い</a:t>
            </a:r>
            <a:endParaRPr lang="en-US" altLang="ja-JP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DA4CD5D-2E30-56B6-8703-A820B482A016}"/>
              </a:ext>
            </a:extLst>
          </p:cNvPr>
          <p:cNvSpPr txBox="1"/>
          <p:nvPr/>
        </p:nvSpPr>
        <p:spPr>
          <a:xfrm>
            <a:off x="3089100" y="6289964"/>
            <a:ext cx="721175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VAE</a:t>
            </a:r>
            <a:endParaRPr kumimoji="1"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8081089-14DC-0032-FEBC-5EF2BA32E20A}"/>
              </a:ext>
            </a:extLst>
          </p:cNvPr>
          <p:cNvSpPr txBox="1"/>
          <p:nvPr/>
        </p:nvSpPr>
        <p:spPr>
          <a:xfrm>
            <a:off x="8381727" y="6289964"/>
            <a:ext cx="721175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AE</a:t>
            </a:r>
            <a:endParaRPr kumimoji="1"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5971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50"/>
    </mc:Choice>
    <mc:Fallback xmlns="">
      <p:transition spd="slow" advTm="4305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48D0D-C3CC-80D0-F780-A708108D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BCEA84-72E3-0DB2-1670-8A7D9AA3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潜在空間の可視化</a:t>
            </a:r>
            <a:endParaRPr kumimoji="1" lang="ja-JP" altLang="en-US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8C4AFAF8-5504-109D-9338-E722EAF84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98733" y="2606653"/>
            <a:ext cx="3683311" cy="36833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1E5EF4F-9D48-2895-3DE2-96B226263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400" y="2606653"/>
            <a:ext cx="3683311" cy="368331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0EB80A0-5192-6574-B234-8859E0569B53}"/>
              </a:ext>
            </a:extLst>
          </p:cNvPr>
          <p:cNvSpPr txBox="1"/>
          <p:nvPr/>
        </p:nvSpPr>
        <p:spPr>
          <a:xfrm>
            <a:off x="3089100" y="6289964"/>
            <a:ext cx="721175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VAE</a:t>
            </a:r>
            <a:endParaRPr kumimoji="1"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12C7F9-C898-4DDF-C015-23FABD511911}"/>
              </a:ext>
            </a:extLst>
          </p:cNvPr>
          <p:cNvSpPr txBox="1"/>
          <p:nvPr/>
        </p:nvSpPr>
        <p:spPr>
          <a:xfrm>
            <a:off x="8381727" y="6289964"/>
            <a:ext cx="721175" cy="521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AE</a:t>
            </a:r>
            <a:endParaRPr kumimoji="1"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182CCDBA-6E22-9FEC-29D4-A755D4848978}"/>
              </a:ext>
            </a:extLst>
          </p:cNvPr>
          <p:cNvSpPr txBox="1">
            <a:spLocks/>
          </p:cNvSpPr>
          <p:nvPr/>
        </p:nvSpPr>
        <p:spPr>
          <a:xfrm>
            <a:off x="760652" y="1110953"/>
            <a:ext cx="10593148" cy="5066010"/>
          </a:xfrm>
          <a:prstGeom prst="rect">
            <a:avLst/>
          </a:prstGeom>
        </p:spPr>
        <p:txBody>
          <a:bodyPr/>
          <a:lstStyle>
            <a:lvl1pPr marL="514350" indent="-5143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kumimoji="1" sz="2800" b="1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n"/>
              <a:tabLst/>
              <a:defRPr kumimoji="1" sz="20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1430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Ø"/>
              <a:tabLst/>
              <a:defRPr kumimoji="1" sz="20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0">
              <a:buNone/>
            </a:pPr>
            <a:r>
              <a:rPr lang="en-US" altLang="ja-JP" dirty="0"/>
              <a:t>VAE </a:t>
            </a:r>
            <a:r>
              <a:rPr lang="ja-JP" altLang="en-US"/>
              <a:t>は中間の表現でも意味のある形を保つ</a:t>
            </a:r>
            <a:endParaRPr lang="en-US" altLang="ja-JP" dirty="0"/>
          </a:p>
          <a:p>
            <a:pPr marL="285750" lvl="1" indent="0">
              <a:buNone/>
            </a:pPr>
            <a:r>
              <a:rPr lang="en-US" altLang="ja-JP" dirty="0"/>
              <a:t>AE </a:t>
            </a:r>
            <a:r>
              <a:rPr lang="ja-JP" altLang="en-US"/>
              <a:t>は中間の表現では形が崩れ意味のない画像になる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98554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50"/>
    </mc:Choice>
    <mc:Fallback xmlns="">
      <p:transition spd="slow" advTm="4305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54728-3538-E0CC-1C61-C822D6D8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738AFF-0759-8E7C-1EB8-22BD4BB5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3A064E-D461-D093-4E31-D12F06A9D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の目的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変分推論の導入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ja-JP" dirty="0">
                <a:solidFill>
                  <a:schemeClr val="bg1">
                    <a:lumMod val="75000"/>
                  </a:schemeClr>
                </a:solidFill>
              </a:rPr>
              <a:t>ELBO </a:t>
            </a: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の導出と損失関数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の実装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ja-JP" dirty="0"/>
              <a:t>VAE </a:t>
            </a:r>
            <a:r>
              <a:rPr lang="ja-JP" altLang="en-US"/>
              <a:t>の応用例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2236094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258C-7402-3D3B-59D2-94A9323DB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B1C94E-AC79-5492-6A0E-07EFE0C55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VAE </a:t>
            </a:r>
            <a:r>
              <a:rPr lang="ja-JP" altLang="en-US"/>
              <a:t>の応用例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6B1BD2-A7CE-9495-2C3A-8CEFDDF16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画像生成と補完</a:t>
            </a:r>
            <a:endParaRPr lang="en-US" altLang="ja-JP" i="1" dirty="0"/>
          </a:p>
          <a:p>
            <a:pPr marL="628650" lvl="1"/>
            <a:r>
              <a:rPr lang="ja-JP" altLang="en-US"/>
              <a:t>学習データにない新たなデータを生成</a:t>
            </a:r>
            <a:endParaRPr lang="en-US" altLang="ja-JP" dirty="0"/>
          </a:p>
          <a:p>
            <a:pPr marL="628650" lvl="1"/>
            <a:r>
              <a:rPr lang="ja-JP" altLang="en-US"/>
              <a:t>画像</a:t>
            </a:r>
            <a:r>
              <a:rPr lang="en-US" altLang="ja-JP" dirty="0"/>
              <a:t> A </a:t>
            </a:r>
            <a:r>
              <a:rPr lang="ja-JP" altLang="en-US"/>
              <a:t>から画像</a:t>
            </a:r>
            <a:r>
              <a:rPr lang="en-US" altLang="ja-JP" dirty="0"/>
              <a:t> B </a:t>
            </a:r>
            <a:r>
              <a:rPr lang="ja-JP" altLang="en-US"/>
              <a:t>へ滑らかに変化する様子を生成可能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異常検知</a:t>
            </a:r>
            <a:endParaRPr lang="en-US" altLang="ja-JP" i="1" dirty="0"/>
          </a:p>
          <a:p>
            <a:pPr marL="628650" lvl="1"/>
            <a:r>
              <a:rPr lang="ja-JP" altLang="en-US"/>
              <a:t>正常データのみで</a:t>
            </a:r>
            <a:r>
              <a:rPr lang="en-US" altLang="ja-JP" dirty="0"/>
              <a:t> VAE </a:t>
            </a:r>
            <a:r>
              <a:rPr lang="ja-JP" altLang="en-US"/>
              <a:t>を学習</a:t>
            </a:r>
            <a:endParaRPr lang="en-US" altLang="ja-JP" dirty="0"/>
          </a:p>
          <a:p>
            <a:pPr marL="628650" lvl="1"/>
            <a:r>
              <a:rPr lang="ja-JP" altLang="en-US"/>
              <a:t>再構成誤差や</a:t>
            </a:r>
            <a:r>
              <a:rPr lang="en-US" altLang="ja-JP" dirty="0"/>
              <a:t> KL </a:t>
            </a:r>
            <a:r>
              <a:rPr lang="ja-JP" altLang="en-US"/>
              <a:t>ダイバージェンスを異常度スコアとして利用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30094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50"/>
    </mc:Choice>
    <mc:Fallback xmlns="">
      <p:transition spd="slow" advTm="4305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7365E-6BEF-C2A4-86A2-86AB0D481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5AB453-076A-01FF-E9D2-B96050759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8BC00F-B0BB-16B5-D1A4-794C591D3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の目的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変分推論の導入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ja-JP" dirty="0">
                <a:solidFill>
                  <a:schemeClr val="bg1">
                    <a:lumMod val="75000"/>
                  </a:schemeClr>
                </a:solidFill>
              </a:rPr>
              <a:t>ELBO </a:t>
            </a: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の導出と損失関数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の実装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ja-JP" dirty="0">
                <a:solidFill>
                  <a:schemeClr val="bg1">
                    <a:lumMod val="75000"/>
                  </a:schemeClr>
                </a:solidFill>
              </a:rPr>
              <a:t>VAE </a:t>
            </a:r>
            <a:r>
              <a:rPr lang="ja-JP" altLang="en-US">
                <a:solidFill>
                  <a:schemeClr val="bg1">
                    <a:lumMod val="75000"/>
                  </a:schemeClr>
                </a:solidFill>
              </a:rPr>
              <a:t>の応用例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ja-JP" altLang="en-US"/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18226867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28118-DADB-B3B2-7A83-1B3C2111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430326-1C7C-D227-3E20-36B8CBB56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まとめ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3CBB58-8EEA-FA00-40BC-467DB44F2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VAE </a:t>
            </a:r>
            <a:r>
              <a:rPr lang="ja-JP" altLang="en-US"/>
              <a:t>の目的</a:t>
            </a:r>
            <a:endParaRPr lang="ja-JP" altLang="en-US" sz="2000" b="0"/>
          </a:p>
          <a:p>
            <a:pPr marL="285750" lvl="1" indent="0">
              <a:buNone/>
            </a:pPr>
            <a:r>
              <a:rPr lang="ja-JP" altLang="en-US" i="1"/>
              <a:t>訓練データにはない新しいデータを生成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手法</a:t>
            </a:r>
            <a:endParaRPr lang="ja-JP" altLang="en-US" sz="2000" b="0"/>
          </a:p>
          <a:p>
            <a:pPr marL="628650" lvl="1"/>
            <a:r>
              <a:rPr lang="ja-JP" altLang="en-US" i="1"/>
              <a:t>計算困難な対数周辺尤度を、近似事後分布を用いて間接的に最大化</a:t>
            </a:r>
            <a:endParaRPr lang="en-US" altLang="ja-JP" i="1" dirty="0"/>
          </a:p>
          <a:p>
            <a:pPr marL="628650" lvl="1"/>
            <a:r>
              <a:rPr lang="en-US" altLang="ja-JP" dirty="0"/>
              <a:t>Reparameterization Trick </a:t>
            </a:r>
            <a:r>
              <a:rPr lang="ja-JP" altLang="en-US"/>
              <a:t>を用いてエンコーダ、デコーダを学習可能に</a:t>
            </a:r>
            <a:endParaRPr lang="en-US" altLang="ja-JP" i="1" dirty="0"/>
          </a:p>
          <a:p>
            <a:pPr marL="0" indent="0">
              <a:buNone/>
            </a:pPr>
            <a:r>
              <a:rPr lang="ja-JP" altLang="en-US"/>
              <a:t>特徴</a:t>
            </a:r>
            <a:endParaRPr lang="ja-JP" altLang="en-US" sz="2000" b="0"/>
          </a:p>
          <a:p>
            <a:pPr marL="628650" lvl="1"/>
            <a:r>
              <a:rPr lang="en-US" altLang="ja-JP" dirty="0"/>
              <a:t>AE </a:t>
            </a:r>
            <a:r>
              <a:rPr lang="ja-JP" altLang="en-US"/>
              <a:t>と違い事後分布が事前分布に近づき正規化される</a:t>
            </a:r>
            <a:endParaRPr lang="en-US" altLang="ja-JP" dirty="0"/>
          </a:p>
          <a:p>
            <a:pPr marL="628650" lvl="1"/>
            <a:r>
              <a:rPr lang="ja-JP" altLang="en-US"/>
              <a:t>潜在空間の隙間が減少し、訓練データ間に意味のある中間表現が生まれる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応用例</a:t>
            </a:r>
            <a:endParaRPr lang="ja-JP" altLang="en-US" sz="2000" b="0"/>
          </a:p>
          <a:p>
            <a:pPr marL="628650" lvl="1"/>
            <a:r>
              <a:rPr lang="ja-JP" altLang="en-US"/>
              <a:t>画像生成、異常検知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887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50"/>
    </mc:Choice>
    <mc:Fallback xmlns="">
      <p:transition spd="slow" advTm="4305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2F9A8-F534-CD87-D4EE-4791AA8C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63F464-A743-0B50-BEF3-5AB3E478C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参考文献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6E078F-4891-E09E-2B83-18691E120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8650" lvl="1"/>
            <a:r>
              <a:rPr lang="en-US" altLang="ja-JP" dirty="0"/>
              <a:t>Zuka, </a:t>
            </a:r>
            <a:r>
              <a:rPr lang="ja-JP" altLang="en-US"/>
              <a:t>「</a:t>
            </a:r>
            <a:r>
              <a:rPr lang="en-US" altLang="ja-JP" dirty="0"/>
              <a:t>【</a:t>
            </a:r>
            <a:r>
              <a:rPr lang="ja-JP" altLang="en-US"/>
              <a:t>徹底解説</a:t>
            </a:r>
            <a:r>
              <a:rPr lang="en-US" altLang="ja-JP" dirty="0"/>
              <a:t>】VAE</a:t>
            </a:r>
            <a:r>
              <a:rPr lang="ja-JP" altLang="en-US"/>
              <a:t>をはじめからていねいに」</a:t>
            </a:r>
            <a:r>
              <a:rPr lang="en-US" altLang="ja-JP" dirty="0"/>
              <a:t>, </a:t>
            </a:r>
            <a:r>
              <a:rPr lang="en-US" altLang="ja-JP" dirty="0">
                <a:hlinkClick r:id="rId3"/>
              </a:rPr>
              <a:t>https://academ-aid.com/ml/vae</a:t>
            </a:r>
            <a:r>
              <a:rPr lang="en-US" altLang="ja-JP" dirty="0"/>
              <a:t> (2026/6/23 </a:t>
            </a:r>
            <a:r>
              <a:rPr lang="ja-JP" altLang="en-US"/>
              <a:t>参照</a:t>
            </a:r>
            <a:r>
              <a:rPr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9704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50"/>
    </mc:Choice>
    <mc:Fallback xmlns="">
      <p:transition spd="slow" advTm="43050"/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24549</TotalTime>
  <Words>1196</Words>
  <Application>Microsoft Macintosh PowerPoint</Application>
  <PresentationFormat>ワイド画面</PresentationFormat>
  <Paragraphs>227</Paragraphs>
  <Slides>26</Slides>
  <Notes>26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2" baseType="lpstr">
      <vt:lpstr>Meiryo</vt:lpstr>
      <vt:lpstr>游ゴシック</vt:lpstr>
      <vt:lpstr>Arial</vt:lpstr>
      <vt:lpstr>Cambria Math</vt:lpstr>
      <vt:lpstr>Wingdings</vt:lpstr>
      <vt:lpstr>Office テーマ</vt:lpstr>
      <vt:lpstr>B4輪講 #9  変分推論に基づく生成モデル VAE（変分オートエンコーダ）</vt:lpstr>
      <vt:lpstr>目次</vt:lpstr>
      <vt:lpstr>目次</vt:lpstr>
      <vt:lpstr>VAE の目的</vt:lpstr>
      <vt:lpstr>潜在変数の導入</vt:lpstr>
      <vt:lpstr>目次</vt:lpstr>
      <vt:lpstr>計算上の課題</vt:lpstr>
      <vt:lpstr>事後分布の推定と変分推論</vt:lpstr>
      <vt:lpstr>目次</vt:lpstr>
      <vt:lpstr>対数周辺尤度の式変形</vt:lpstr>
      <vt:lpstr>KL ダイバージェンスと ELBO</vt:lpstr>
      <vt:lpstr>VAE の損失関数</vt:lpstr>
      <vt:lpstr>目次</vt:lpstr>
      <vt:lpstr>VAE の実装</vt:lpstr>
      <vt:lpstr>VAE の実装</vt:lpstr>
      <vt:lpstr>損失関数の計算</vt:lpstr>
      <vt:lpstr>損失関数の計算</vt:lpstr>
      <vt:lpstr>Reparameterization Trick</vt:lpstr>
      <vt:lpstr>VAE のアーキテクチャ</vt:lpstr>
      <vt:lpstr>潜在空間の可視化</vt:lpstr>
      <vt:lpstr>潜在空間の可視化</vt:lpstr>
      <vt:lpstr>目次</vt:lpstr>
      <vt:lpstr>VAE の応用例</vt:lpstr>
      <vt:lpstr>目次</vt:lpstr>
      <vt:lpstr>まとめ</vt:lpstr>
      <vt:lpstr>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FUTAGAMI Takumi</dc:creator>
  <cp:lastModifiedBy>FUTAGAMI Takumi</cp:lastModifiedBy>
  <cp:revision>53</cp:revision>
  <dcterms:created xsi:type="dcterms:W3CDTF">2025-04-25T13:06:17Z</dcterms:created>
  <dcterms:modified xsi:type="dcterms:W3CDTF">2026-06-25T07:44:22Z</dcterms:modified>
</cp:coreProperties>
</file>